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66" r:id="rId3"/>
    <p:sldId id="267" r:id="rId4"/>
    <p:sldId id="271" r:id="rId5"/>
    <p:sldId id="272" r:id="rId6"/>
    <p:sldId id="275" r:id="rId7"/>
    <p:sldId id="274" r:id="rId8"/>
    <p:sldId id="277" r:id="rId9"/>
    <p:sldId id="278" r:id="rId10"/>
    <p:sldId id="273" r:id="rId11"/>
    <p:sldId id="27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391E6E-DCC2-4700-8775-5DD1E3E3EB00}" v="3" dt="2026-09-26T23:04:39.744"/>
    <p1510:client id="{3DE79FF9-19E7-AF77-7E17-C1075E2C6EF5}" v="5" dt="2026-07-13T00:05:32.838"/>
    <p1510:client id="{8D83B316-7960-5522-25D9-92E5AC11FDC0}" v="68" dt="2026-07-12T23:15:24.4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51" d="100"/>
          <a:sy n="51" d="100"/>
        </p:scale>
        <p:origin x="62"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ofoworola Ogutuga" userId="S::101548707@georgebrown.ca::02289f52-2866-467d-b749-151c75364625" providerId="AD" clId="Web-{3DE79FF9-19E7-AF77-7E17-C1075E2C6EF5}"/>
    <pc:docChg chg="delSld modSld">
      <pc:chgData name="Kofoworola Ogutuga" userId="S::101548707@georgebrown.ca::02289f52-2866-467d-b749-151c75364625" providerId="AD" clId="Web-{3DE79FF9-19E7-AF77-7E17-C1075E2C6EF5}" dt="2026-07-13T00:05:32.838" v="4"/>
      <pc:docMkLst>
        <pc:docMk/>
      </pc:docMkLst>
      <pc:sldChg chg="delSp modSp del">
        <pc:chgData name="Kofoworola Ogutuga" userId="S::101548707@georgebrown.ca::02289f52-2866-467d-b749-151c75364625" providerId="AD" clId="Web-{3DE79FF9-19E7-AF77-7E17-C1075E2C6EF5}" dt="2026-07-13T00:05:32.838" v="4"/>
        <pc:sldMkLst>
          <pc:docMk/>
          <pc:sldMk cId="611130574" sldId="279"/>
        </pc:sldMkLst>
        <pc:spChg chg="del mod">
          <ac:chgData name="Kofoworola Ogutuga" userId="S::101548707@georgebrown.ca::02289f52-2866-467d-b749-151c75364625" providerId="AD" clId="Web-{3DE79FF9-19E7-AF77-7E17-C1075E2C6EF5}" dt="2026-07-13T00:05:28.119" v="3"/>
          <ac:spMkLst>
            <pc:docMk/>
            <pc:sldMk cId="611130574" sldId="279"/>
            <ac:spMk id="6" creationId="{28C168AD-CCEE-6958-9543-B25E85D3FA8F}"/>
          </ac:spMkLst>
        </pc:spChg>
      </pc:sldChg>
    </pc:docChg>
  </pc:docChgLst>
  <pc:docChgLst>
    <pc:chgData name="Kofoworola Ogutuga" userId="S::101548707@georgebrown.ca::02289f52-2866-467d-b749-151c75364625" providerId="AD" clId="Web-{8D83B316-7960-5522-25D9-92E5AC11FDC0}"/>
    <pc:docChg chg="addSld modSld sldOrd">
      <pc:chgData name="Kofoworola Ogutuga" userId="S::101548707@georgebrown.ca::02289f52-2866-467d-b749-151c75364625" providerId="AD" clId="Web-{8D83B316-7960-5522-25D9-92E5AC11FDC0}" dt="2026-07-12T23:15:24.416" v="54" actId="20577"/>
      <pc:docMkLst>
        <pc:docMk/>
      </pc:docMkLst>
      <pc:sldChg chg="addSp delSp modSp add ord replId">
        <pc:chgData name="Kofoworola Ogutuga" userId="S::101548707@georgebrown.ca::02289f52-2866-467d-b749-151c75364625" providerId="AD" clId="Web-{8D83B316-7960-5522-25D9-92E5AC11FDC0}" dt="2026-07-12T23:15:24.416" v="54" actId="20577"/>
        <pc:sldMkLst>
          <pc:docMk/>
          <pc:sldMk cId="611130574" sldId="279"/>
        </pc:sldMkLst>
        <pc:spChg chg="del mod">
          <ac:chgData name="Kofoworola Ogutuga" userId="S::101548707@georgebrown.ca::02289f52-2866-467d-b749-151c75364625" providerId="AD" clId="Web-{8D83B316-7960-5522-25D9-92E5AC11FDC0}" dt="2026-07-12T23:09:26.821" v="5"/>
          <ac:spMkLst>
            <pc:docMk/>
            <pc:sldMk cId="611130574" sldId="279"/>
            <ac:spMk id="2" creationId="{49B7EDD8-B305-D648-DFD0-EBB19E2E4DB6}"/>
          </ac:spMkLst>
        </pc:spChg>
        <pc:spChg chg="add del mod">
          <ac:chgData name="Kofoworola Ogutuga" userId="S::101548707@georgebrown.ca::02289f52-2866-467d-b749-151c75364625" providerId="AD" clId="Web-{8D83B316-7960-5522-25D9-92E5AC11FDC0}" dt="2026-07-12T23:11:08.603" v="15"/>
          <ac:spMkLst>
            <pc:docMk/>
            <pc:sldMk cId="611130574" sldId="279"/>
            <ac:spMk id="3" creationId="{388E9A33-0EEF-B681-01F2-F913A0D7B022}"/>
          </ac:spMkLst>
        </pc:spChg>
        <pc:spChg chg="add mod">
          <ac:chgData name="Kofoworola Ogutuga" userId="S::101548707@georgebrown.ca::02289f52-2866-467d-b749-151c75364625" providerId="AD" clId="Web-{8D83B316-7960-5522-25D9-92E5AC11FDC0}" dt="2026-07-12T23:10:55.025" v="12" actId="1076"/>
          <ac:spMkLst>
            <pc:docMk/>
            <pc:sldMk cId="611130574" sldId="279"/>
            <ac:spMk id="4" creationId="{B9100FE5-2088-F01A-15A8-25EC43B9084C}"/>
          </ac:spMkLst>
        </pc:spChg>
        <pc:spChg chg="add mod">
          <ac:chgData name="Kofoworola Ogutuga" userId="S::101548707@georgebrown.ca::02289f52-2866-467d-b749-151c75364625" providerId="AD" clId="Web-{8D83B316-7960-5522-25D9-92E5AC11FDC0}" dt="2026-07-12T23:11:16.259" v="18" actId="1076"/>
          <ac:spMkLst>
            <pc:docMk/>
            <pc:sldMk cId="611130574" sldId="279"/>
            <ac:spMk id="5" creationId="{DBD82CB9-4536-7A9E-BE39-0DE1FCEAFB17}"/>
          </ac:spMkLst>
        </pc:spChg>
        <pc:spChg chg="add mod">
          <ac:chgData name="Kofoworola Ogutuga" userId="S::101548707@georgebrown.ca::02289f52-2866-467d-b749-151c75364625" providerId="AD" clId="Web-{8D83B316-7960-5522-25D9-92E5AC11FDC0}" dt="2026-07-12T23:15:24.416" v="54" actId="20577"/>
          <ac:spMkLst>
            <pc:docMk/>
            <pc:sldMk cId="611130574" sldId="279"/>
            <ac:spMk id="6" creationId="{28C168AD-CCEE-6958-9543-B25E85D3FA8F}"/>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9/26/2026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9/26/2026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9/26/2026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9/26/2026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nagpurtoday.in/two-injured-as-damaged-city-buses-rams-bike-into-moped/08191000" TargetMode="External"/><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www.flickr.com/photos/145558967@N03/40419666153/" TargetMode="External"/><Relationship Id="rId2" Type="http://schemas.openxmlformats.org/officeDocument/2006/relationships/image" Target="../media/image7.jpeg"/><Relationship Id="rId1" Type="http://schemas.openxmlformats.org/officeDocument/2006/relationships/slideLayout" Target="../slideLayouts/slideLayout1.xml"/><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CAF58A4-0021-9F72-7921-F0203A795ECA}"/>
              </a:ext>
            </a:extLst>
          </p:cNvPr>
          <p:cNvPicPr>
            <a:picLocks noChangeAspect="1"/>
          </p:cNvPicPr>
          <p:nvPr/>
        </p:nvPicPr>
        <p:blipFill>
          <a:blip r:embed="rId2">
            <a:extLst>
              <a:ext uri="{837473B0-CC2E-450A-ABE3-18F120FF3D39}">
                <a1611:picAttrSrcUrl xmlns:a1611="http://schemas.microsoft.com/office/drawing/2016/11/main" r:id="rId3"/>
              </a:ext>
            </a:extLst>
          </a:blip>
          <a:srcRect l="-144" t="9916" r="19197" b="27512"/>
          <a:stretch/>
        </p:blipFill>
        <p:spPr>
          <a:xfrm>
            <a:off x="-16934" y="-1664"/>
            <a:ext cx="12227121" cy="5350505"/>
          </a:xfrm>
          <a:prstGeom prst="rect">
            <a:avLst/>
          </a:prstGeom>
        </p:spPr>
      </p:pic>
      <p:pic>
        <p:nvPicPr>
          <p:cNvPr id="6" name="Picture 5" descr="A blue and green rectangle frame&#10;&#10;AI-generated content may be incorrect.">
            <a:extLst>
              <a:ext uri="{FF2B5EF4-FFF2-40B4-BE49-F238E27FC236}">
                <a16:creationId xmlns:a16="http://schemas.microsoft.com/office/drawing/2014/main" id="{0DDFEF3B-E811-4A1C-4C31-6B7B69C9AF48}"/>
              </a:ext>
            </a:extLst>
          </p:cNvPr>
          <p:cNvPicPr>
            <a:picLocks noChangeAspect="1"/>
          </p:cNvPicPr>
          <p:nvPr/>
        </p:nvPicPr>
        <p:blipFill>
          <a:blip r:embed="rId4"/>
          <a:srcRect l="24" t="90776" r="60" b="210"/>
          <a:stretch/>
        </p:blipFill>
        <p:spPr>
          <a:xfrm flipV="1">
            <a:off x="-15533" y="5295443"/>
            <a:ext cx="12233528" cy="158172"/>
          </a:xfrm>
          <a:prstGeom prst="rect">
            <a:avLst/>
          </a:prstGeom>
        </p:spPr>
      </p:pic>
      <p:pic>
        <p:nvPicPr>
          <p:cNvPr id="7" name="Picture 6" descr="A blue and green rectangle frame&#10;&#10;AI-generated content may be incorrect.">
            <a:extLst>
              <a:ext uri="{FF2B5EF4-FFF2-40B4-BE49-F238E27FC236}">
                <a16:creationId xmlns:a16="http://schemas.microsoft.com/office/drawing/2014/main" id="{A48410F6-79BE-608C-A872-60E1DA3C24E3}"/>
              </a:ext>
            </a:extLst>
          </p:cNvPr>
          <p:cNvPicPr>
            <a:picLocks noChangeAspect="1"/>
          </p:cNvPicPr>
          <p:nvPr/>
        </p:nvPicPr>
        <p:blipFill>
          <a:blip r:embed="rId4"/>
          <a:srcRect l="24" t="90776" r="60" b="210"/>
          <a:stretch/>
        </p:blipFill>
        <p:spPr>
          <a:xfrm>
            <a:off x="86" y="6239557"/>
            <a:ext cx="12190395" cy="616964"/>
          </a:xfrm>
          <a:prstGeom prst="rect">
            <a:avLst/>
          </a:prstGeom>
        </p:spPr>
      </p:pic>
      <p:sp>
        <p:nvSpPr>
          <p:cNvPr id="8" name="Rectangle 7">
            <a:extLst>
              <a:ext uri="{FF2B5EF4-FFF2-40B4-BE49-F238E27FC236}">
                <a16:creationId xmlns:a16="http://schemas.microsoft.com/office/drawing/2014/main" id="{D4AE3654-9B9D-3C43-E4FB-259F591C074E}"/>
              </a:ext>
            </a:extLst>
          </p:cNvPr>
          <p:cNvSpPr/>
          <p:nvPr/>
        </p:nvSpPr>
        <p:spPr>
          <a:xfrm>
            <a:off x="943842" y="4431861"/>
            <a:ext cx="10312496" cy="18189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3200" b="1" dirty="0">
                <a:solidFill>
                  <a:schemeClr val="tx1"/>
                </a:solidFill>
                <a:latin typeface="Book Antiqua"/>
                <a:ea typeface="+mn-lt"/>
                <a:cs typeface="+mn-lt"/>
              </a:rPr>
              <a:t>Is Enough Being Done?</a:t>
            </a:r>
            <a:endParaRPr lang="en-US" sz="3200" b="1">
              <a:solidFill>
                <a:schemeClr val="tx1"/>
              </a:solidFill>
              <a:latin typeface="Book Antiqua"/>
            </a:endParaRPr>
          </a:p>
          <a:p>
            <a:pPr algn="ctr"/>
            <a:r>
              <a:rPr lang="en-US" sz="900" b="1" dirty="0">
                <a:solidFill>
                  <a:schemeClr val="tx1"/>
                </a:solidFill>
                <a:latin typeface="Book Antiqua"/>
                <a:ea typeface="+mn-lt"/>
                <a:cs typeface="+mn-lt"/>
              </a:rPr>
              <a:t> </a:t>
            </a:r>
          </a:p>
          <a:p>
            <a:pPr algn="ctr"/>
            <a:r>
              <a:rPr lang="en-CA" sz="2400" dirty="0">
                <a:solidFill>
                  <a:schemeClr val="tx1"/>
                </a:solidFill>
                <a:latin typeface="Book Antiqua"/>
                <a:ea typeface="+mn-lt"/>
                <a:cs typeface="+mn-lt"/>
              </a:rPr>
              <a:t>The Issue Of High Crime In Some Toronto Neighbourhoods</a:t>
            </a:r>
          </a:p>
          <a:p>
            <a:pPr algn="ctr"/>
            <a:r>
              <a:rPr lang="en-US" sz="1200" dirty="0">
                <a:solidFill>
                  <a:schemeClr val="tx1"/>
                </a:solidFill>
                <a:latin typeface="Book Antiqua"/>
                <a:ea typeface="+mn-lt"/>
                <a:cs typeface="+mn-lt"/>
              </a:rPr>
              <a:t>---------------------------------------------------------------------------------------------------------------------------------------------</a:t>
            </a:r>
            <a:endParaRPr lang="en-US" dirty="0">
              <a:solidFill>
                <a:schemeClr val="tx1"/>
              </a:solidFill>
            </a:endParaRPr>
          </a:p>
          <a:p>
            <a:pPr algn="ctr"/>
            <a:r>
              <a:rPr lang="en-US" sz="2000" dirty="0">
                <a:solidFill>
                  <a:schemeClr val="tx1"/>
                </a:solidFill>
                <a:latin typeface="Book Antiqua"/>
                <a:ea typeface="+mn-lt"/>
                <a:cs typeface="+mn-lt"/>
              </a:rPr>
              <a:t>By: Kofoworola </a:t>
            </a:r>
            <a:r>
              <a:rPr lang="en-US" sz="2000" err="1">
                <a:solidFill>
                  <a:schemeClr val="tx1"/>
                </a:solidFill>
                <a:latin typeface="Book Antiqua"/>
                <a:ea typeface="+mn-lt"/>
                <a:cs typeface="+mn-lt"/>
              </a:rPr>
              <a:t>Ogutuga</a:t>
            </a:r>
            <a:endParaRPr lang="en-US" sz="2000">
              <a:solidFill>
                <a:schemeClr val="tx1"/>
              </a:solidFill>
              <a:latin typeface="Book Antiqua"/>
              <a:ea typeface="+mn-lt"/>
              <a:cs typeface="+mn-lt"/>
            </a:endParaRPr>
          </a:p>
        </p:txBody>
      </p:sp>
      <p:sp>
        <p:nvSpPr>
          <p:cNvPr id="9" name="Rectangle 8">
            <a:extLst>
              <a:ext uri="{FF2B5EF4-FFF2-40B4-BE49-F238E27FC236}">
                <a16:creationId xmlns:a16="http://schemas.microsoft.com/office/drawing/2014/main" id="{F6D3F43D-C389-ECE4-9B57-9ADFEDFC940B}"/>
              </a:ext>
            </a:extLst>
          </p:cNvPr>
          <p:cNvSpPr/>
          <p:nvPr/>
        </p:nvSpPr>
        <p:spPr>
          <a:xfrm>
            <a:off x="188844" y="138704"/>
            <a:ext cx="11811741" cy="6413689"/>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8685274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4ADBC-DFDF-1CBA-389C-7ACBEB9EC20F}"/>
            </a:ext>
          </a:extLst>
        </p:cNvPr>
        <p:cNvGrpSpPr/>
        <p:nvPr/>
      </p:nvGrpSpPr>
      <p:grpSpPr>
        <a:xfrm>
          <a:off x="0" y="0"/>
          <a:ext cx="0" cy="0"/>
          <a:chOff x="0" y="0"/>
          <a:chExt cx="0" cy="0"/>
        </a:xfrm>
      </p:grpSpPr>
      <p:pic>
        <p:nvPicPr>
          <p:cNvPr id="11" name="Picture 10" descr="A blue and green rectangle frame&#10;&#10;AI-generated content may be incorrect.">
            <a:extLst>
              <a:ext uri="{FF2B5EF4-FFF2-40B4-BE49-F238E27FC236}">
                <a16:creationId xmlns:a16="http://schemas.microsoft.com/office/drawing/2014/main" id="{135CC292-4AB0-8CFC-18C3-EE3D3275FCFA}"/>
              </a:ext>
            </a:extLst>
          </p:cNvPr>
          <p:cNvPicPr>
            <a:picLocks noChangeAspect="1"/>
          </p:cNvPicPr>
          <p:nvPr/>
        </p:nvPicPr>
        <p:blipFill>
          <a:blip r:embed="rId2"/>
          <a:srcRect l="24" t="90776" r="60" b="210"/>
          <a:stretch/>
        </p:blipFill>
        <p:spPr>
          <a:xfrm rot="-5400000">
            <a:off x="-3574388" y="3163847"/>
            <a:ext cx="7147341" cy="215183"/>
          </a:xfrm>
          <a:prstGeom prst="rect">
            <a:avLst/>
          </a:prstGeom>
        </p:spPr>
      </p:pic>
      <p:pic>
        <p:nvPicPr>
          <p:cNvPr id="12" name="Picture 11" descr="A blue and green rectangle frame&#10;&#10;AI-generated content may be incorrect.">
            <a:extLst>
              <a:ext uri="{FF2B5EF4-FFF2-40B4-BE49-F238E27FC236}">
                <a16:creationId xmlns:a16="http://schemas.microsoft.com/office/drawing/2014/main" id="{ED3A484A-9052-ABAF-2011-AACE4A3B77B8}"/>
              </a:ext>
            </a:extLst>
          </p:cNvPr>
          <p:cNvPicPr>
            <a:picLocks noChangeAspect="1"/>
          </p:cNvPicPr>
          <p:nvPr/>
        </p:nvPicPr>
        <p:blipFill>
          <a:blip r:embed="rId2"/>
          <a:srcRect l="24" t="90776" r="60" b="210"/>
          <a:stretch/>
        </p:blipFill>
        <p:spPr>
          <a:xfrm rot="5400000">
            <a:off x="8589903" y="3219264"/>
            <a:ext cx="7147341" cy="215183"/>
          </a:xfrm>
          <a:prstGeom prst="rect">
            <a:avLst/>
          </a:prstGeom>
        </p:spPr>
      </p:pic>
      <p:pic>
        <p:nvPicPr>
          <p:cNvPr id="13" name="Picture 12" descr="A blue and green rectangle frame&#10;&#10;AI-generated content may be incorrect.">
            <a:extLst>
              <a:ext uri="{FF2B5EF4-FFF2-40B4-BE49-F238E27FC236}">
                <a16:creationId xmlns:a16="http://schemas.microsoft.com/office/drawing/2014/main" id="{F1AB28BF-D299-4AA8-8F2F-31D6936522DA}"/>
              </a:ext>
            </a:extLst>
          </p:cNvPr>
          <p:cNvPicPr>
            <a:picLocks noChangeAspect="1"/>
          </p:cNvPicPr>
          <p:nvPr/>
        </p:nvPicPr>
        <p:blipFill>
          <a:blip r:embed="rId2"/>
          <a:srcRect l="24" t="90776" r="60" b="210"/>
          <a:stretch/>
        </p:blipFill>
        <p:spPr>
          <a:xfrm rot="10800000">
            <a:off x="-207732" y="-188952"/>
            <a:ext cx="12287377" cy="519981"/>
          </a:xfrm>
          <a:prstGeom prst="rect">
            <a:avLst/>
          </a:prstGeom>
        </p:spPr>
      </p:pic>
      <p:pic>
        <p:nvPicPr>
          <p:cNvPr id="9" name="Picture 8" descr="A blue and green rectangle frame&#10;&#10;AI-generated content may be incorrect.">
            <a:extLst>
              <a:ext uri="{FF2B5EF4-FFF2-40B4-BE49-F238E27FC236}">
                <a16:creationId xmlns:a16="http://schemas.microsoft.com/office/drawing/2014/main" id="{906D33A6-6A29-92D4-86BF-44CCE8BD8517}"/>
              </a:ext>
            </a:extLst>
          </p:cNvPr>
          <p:cNvPicPr>
            <a:picLocks noChangeAspect="1"/>
          </p:cNvPicPr>
          <p:nvPr/>
        </p:nvPicPr>
        <p:blipFill>
          <a:blip r:embed="rId2"/>
          <a:srcRect l="24" t="90776" r="60" b="210"/>
          <a:stretch/>
        </p:blipFill>
        <p:spPr>
          <a:xfrm>
            <a:off x="-83041" y="6378102"/>
            <a:ext cx="12356649" cy="519983"/>
          </a:xfrm>
          <a:prstGeom prst="rect">
            <a:avLst/>
          </a:prstGeom>
        </p:spPr>
      </p:pic>
      <p:sp>
        <p:nvSpPr>
          <p:cNvPr id="24" name="TextBox 23">
            <a:extLst>
              <a:ext uri="{FF2B5EF4-FFF2-40B4-BE49-F238E27FC236}">
                <a16:creationId xmlns:a16="http://schemas.microsoft.com/office/drawing/2014/main" id="{0CC7243F-CC60-3D79-D6CA-0900CAD1695B}"/>
              </a:ext>
            </a:extLst>
          </p:cNvPr>
          <p:cNvSpPr txBox="1"/>
          <p:nvPr/>
        </p:nvSpPr>
        <p:spPr>
          <a:xfrm>
            <a:off x="3315924" y="6376344"/>
            <a:ext cx="5558046" cy="461665"/>
          </a:xfrm>
          <a:prstGeom prst="rect">
            <a:avLst/>
          </a:prstGeom>
          <a:noFill/>
        </p:spPr>
        <p:txBody>
          <a:bodyPr wrap="square" lIns="91440" tIns="45720" rIns="91440" bIns="45720" rtlCol="0" anchor="t">
            <a:spAutoFit/>
          </a:bodyPr>
          <a:lstStyle/>
          <a:p>
            <a:pPr algn="ctr"/>
            <a:r>
              <a:rPr lang="en-CA" sz="2400" b="1" dirty="0">
                <a:solidFill>
                  <a:schemeClr val="bg1"/>
                </a:solidFill>
                <a:latin typeface="Book Antiqua"/>
              </a:rPr>
              <a:t> - Table Of Contents  -</a:t>
            </a:r>
          </a:p>
        </p:txBody>
      </p:sp>
      <p:sp>
        <p:nvSpPr>
          <p:cNvPr id="18" name="Rectangle 17">
            <a:extLst>
              <a:ext uri="{FF2B5EF4-FFF2-40B4-BE49-F238E27FC236}">
                <a16:creationId xmlns:a16="http://schemas.microsoft.com/office/drawing/2014/main" id="{1B176EB9-5C83-CE0E-FAE4-5584D09C4472}"/>
              </a:ext>
            </a:extLst>
          </p:cNvPr>
          <p:cNvSpPr/>
          <p:nvPr/>
        </p:nvSpPr>
        <p:spPr>
          <a:xfrm rot="13278271">
            <a:off x="-131127" y="-250176"/>
            <a:ext cx="628990" cy="1018566"/>
          </a:xfrm>
          <a:prstGeom prst="rect">
            <a:avLst/>
          </a:prstGeom>
          <a:solidFill>
            <a:srgbClr val="0E9C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Rectangle 18">
            <a:extLst>
              <a:ext uri="{FF2B5EF4-FFF2-40B4-BE49-F238E27FC236}">
                <a16:creationId xmlns:a16="http://schemas.microsoft.com/office/drawing/2014/main" id="{769B0FE0-3405-FAF4-0B21-2B526BA8FA18}"/>
              </a:ext>
            </a:extLst>
          </p:cNvPr>
          <p:cNvSpPr/>
          <p:nvPr/>
        </p:nvSpPr>
        <p:spPr>
          <a:xfrm rot="7941075">
            <a:off x="11656797" y="-235521"/>
            <a:ext cx="628990" cy="1018566"/>
          </a:xfrm>
          <a:prstGeom prst="rect">
            <a:avLst/>
          </a:prstGeom>
          <a:solidFill>
            <a:srgbClr val="0DA1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 name="TextBox 1">
            <a:extLst>
              <a:ext uri="{FF2B5EF4-FFF2-40B4-BE49-F238E27FC236}">
                <a16:creationId xmlns:a16="http://schemas.microsoft.com/office/drawing/2014/main" id="{8AD1C175-F1E8-9629-3FD4-A69C00C704C4}"/>
              </a:ext>
            </a:extLst>
          </p:cNvPr>
          <p:cNvSpPr txBox="1"/>
          <p:nvPr/>
        </p:nvSpPr>
        <p:spPr>
          <a:xfrm>
            <a:off x="2081791" y="541360"/>
            <a:ext cx="8451009" cy="5548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nSpc>
                <a:spcPct val="200000"/>
              </a:lnSpc>
              <a:buFont typeface="Arial" panose="020B0604020202020204" pitchFamily="34" charset="0"/>
              <a:buChar char="•"/>
            </a:pPr>
            <a:r>
              <a:rPr lang="en-US" sz="2000" b="1" dirty="0">
                <a:latin typeface="Book Antiqua"/>
                <a:cs typeface="Arial"/>
              </a:rPr>
              <a:t>Introduction</a:t>
            </a:r>
            <a:endParaRPr lang="en-US" sz="2000" b="1" dirty="0" err="1">
              <a:latin typeface="Book Antiqua"/>
              <a:cs typeface="Arial"/>
            </a:endParaRPr>
          </a:p>
          <a:p>
            <a:pPr marL="342900" indent="-342900">
              <a:lnSpc>
                <a:spcPct val="200000"/>
              </a:lnSpc>
              <a:buFont typeface="Arial" panose="020B0604020202020204" pitchFamily="34" charset="0"/>
              <a:buChar char="•"/>
            </a:pPr>
            <a:r>
              <a:rPr lang="en-US" sz="2000" b="1" dirty="0">
                <a:latin typeface="Book Antiqua"/>
                <a:cs typeface="Arial"/>
              </a:rPr>
              <a:t>Objective</a:t>
            </a:r>
          </a:p>
          <a:p>
            <a:pPr marL="342900" indent="-342900">
              <a:lnSpc>
                <a:spcPct val="200000"/>
              </a:lnSpc>
              <a:buFont typeface="Arial" panose="020B0604020202020204" pitchFamily="34" charset="0"/>
              <a:buChar char="•"/>
            </a:pPr>
            <a:r>
              <a:rPr lang="en-US" sz="2000" b="1" dirty="0">
                <a:latin typeface="Book Antiqua"/>
                <a:cs typeface="Arial"/>
              </a:rPr>
              <a:t>Analysis of High-Crime </a:t>
            </a:r>
            <a:r>
              <a:rPr lang="en-US" sz="2000" b="1" dirty="0" err="1">
                <a:latin typeface="Book Antiqua"/>
                <a:cs typeface="Arial"/>
              </a:rPr>
              <a:t>Neighbourhoods</a:t>
            </a:r>
            <a:endParaRPr lang="en-US" sz="2000" b="1">
              <a:latin typeface="Book Antiqua"/>
            </a:endParaRPr>
          </a:p>
          <a:p>
            <a:pPr marL="800100" lvl="1" indent="-342900">
              <a:lnSpc>
                <a:spcPct val="200000"/>
              </a:lnSpc>
              <a:buFont typeface="Courier New"/>
              <a:buChar char="o"/>
            </a:pPr>
            <a:r>
              <a:rPr lang="en-US" sz="2000" err="1">
                <a:latin typeface="Book Antiqua"/>
                <a:cs typeface="Arial"/>
              </a:rPr>
              <a:t>Neighbourhoods</a:t>
            </a:r>
            <a:r>
              <a:rPr lang="en-US" sz="2000" dirty="0">
                <a:latin typeface="Book Antiqua"/>
                <a:cs typeface="Arial"/>
              </a:rPr>
              <a:t> with Highest Crime Number</a:t>
            </a:r>
          </a:p>
          <a:p>
            <a:pPr marL="800100" lvl="1" indent="-342900">
              <a:lnSpc>
                <a:spcPct val="200000"/>
              </a:lnSpc>
              <a:buFont typeface="Courier New"/>
              <a:buChar char="o"/>
            </a:pPr>
            <a:r>
              <a:rPr lang="en-US" sz="2000" dirty="0">
                <a:latin typeface="Book Antiqua"/>
                <a:cs typeface="Arial"/>
              </a:rPr>
              <a:t>Initiatives and Interventions in High-Crime </a:t>
            </a:r>
            <a:r>
              <a:rPr lang="en-US" sz="2000" dirty="0" err="1">
                <a:latin typeface="Book Antiqua"/>
                <a:cs typeface="Arial"/>
              </a:rPr>
              <a:t>Neighbourhoods</a:t>
            </a:r>
            <a:endParaRPr lang="en-US" sz="2000" dirty="0">
              <a:latin typeface="Book Antiqua"/>
              <a:cs typeface="Arial"/>
            </a:endParaRPr>
          </a:p>
          <a:p>
            <a:pPr marL="800100" lvl="1" indent="-342900">
              <a:lnSpc>
                <a:spcPct val="200000"/>
              </a:lnSpc>
              <a:buFont typeface="Courier New"/>
              <a:buChar char="o"/>
            </a:pPr>
            <a:r>
              <a:rPr lang="en-US" sz="2000" err="1">
                <a:latin typeface="Book Antiqua"/>
                <a:cs typeface="Arial"/>
              </a:rPr>
              <a:t>Neighbourhood</a:t>
            </a:r>
            <a:r>
              <a:rPr lang="en-US" sz="2000" dirty="0">
                <a:latin typeface="Book Antiqua"/>
                <a:cs typeface="Arial"/>
              </a:rPr>
              <a:t> Crime Number Over The Years​</a:t>
            </a:r>
          </a:p>
          <a:p>
            <a:pPr marL="800100" lvl="1" indent="-342900">
              <a:lnSpc>
                <a:spcPct val="200000"/>
              </a:lnSpc>
              <a:buFont typeface="Courier New"/>
              <a:buChar char="o"/>
            </a:pPr>
            <a:r>
              <a:rPr lang="en-US" sz="2000" dirty="0">
                <a:latin typeface="Book Antiqua"/>
                <a:cs typeface="Arial"/>
              </a:rPr>
              <a:t>Crime Rate Per 100,000 vs. </a:t>
            </a:r>
            <a:r>
              <a:rPr lang="en-US" sz="2000" err="1">
                <a:latin typeface="Book Antiqua"/>
                <a:cs typeface="Arial"/>
              </a:rPr>
              <a:t>Neighbourhood</a:t>
            </a:r>
            <a:r>
              <a:rPr lang="en-US" sz="2000" dirty="0">
                <a:latin typeface="Book Antiqua"/>
                <a:cs typeface="Arial"/>
              </a:rPr>
              <a:t> Population 2024​</a:t>
            </a:r>
          </a:p>
          <a:p>
            <a:pPr marL="800100" lvl="1" indent="-342900">
              <a:lnSpc>
                <a:spcPct val="200000"/>
              </a:lnSpc>
              <a:buFont typeface="Courier New"/>
              <a:buChar char="o"/>
            </a:pPr>
            <a:r>
              <a:rPr lang="en-US" sz="2000" dirty="0">
                <a:latin typeface="Book Antiqua"/>
                <a:cs typeface="Arial"/>
              </a:rPr>
              <a:t>Defining High vs. Low Crime Rates ​</a:t>
            </a:r>
          </a:p>
          <a:p>
            <a:pPr marL="342900" indent="-342900">
              <a:lnSpc>
                <a:spcPct val="200000"/>
              </a:lnSpc>
              <a:buFont typeface="Arial" panose="020B0604020202020204" pitchFamily="34" charset="0"/>
              <a:buChar char="•"/>
            </a:pPr>
            <a:r>
              <a:rPr lang="en-US" sz="2000" b="1" dirty="0">
                <a:latin typeface="Book Antiqua"/>
                <a:cs typeface="Arial"/>
              </a:rPr>
              <a:t>Recommendations &amp; Conclusion </a:t>
            </a:r>
            <a:endParaRPr lang="en-US" sz="2000" b="1" dirty="0">
              <a:latin typeface="Book Antiqua"/>
            </a:endParaRPr>
          </a:p>
        </p:txBody>
      </p:sp>
    </p:spTree>
    <p:extLst>
      <p:ext uri="{BB962C8B-B14F-4D97-AF65-F5344CB8AC3E}">
        <p14:creationId xmlns:p14="http://schemas.microsoft.com/office/powerpoint/2010/main" val="743565376"/>
      </p:ext>
    </p:extLst>
  </p:cSld>
  <p:clrMapOvr>
    <a:masterClrMapping/>
  </p:clrMapOvr>
  <p:transition spd="med">
    <p:pull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4ADBC-DFDF-1CBA-389C-7ACBEB9EC20F}"/>
            </a:ext>
          </a:extLst>
        </p:cNvPr>
        <p:cNvGrpSpPr/>
        <p:nvPr/>
      </p:nvGrpSpPr>
      <p:grpSpPr>
        <a:xfrm>
          <a:off x="0" y="0"/>
          <a:ext cx="0" cy="0"/>
          <a:chOff x="0" y="0"/>
          <a:chExt cx="0" cy="0"/>
        </a:xfrm>
      </p:grpSpPr>
      <p:pic>
        <p:nvPicPr>
          <p:cNvPr id="11" name="Picture 10" descr="A blue and green rectangle frame&#10;&#10;AI-generated content may be incorrect.">
            <a:extLst>
              <a:ext uri="{FF2B5EF4-FFF2-40B4-BE49-F238E27FC236}">
                <a16:creationId xmlns:a16="http://schemas.microsoft.com/office/drawing/2014/main" id="{135CC292-4AB0-8CFC-18C3-EE3D3275FCFA}"/>
              </a:ext>
            </a:extLst>
          </p:cNvPr>
          <p:cNvPicPr>
            <a:picLocks noChangeAspect="1"/>
          </p:cNvPicPr>
          <p:nvPr/>
        </p:nvPicPr>
        <p:blipFill>
          <a:blip r:embed="rId2"/>
          <a:srcRect l="24" t="90776" r="60" b="210"/>
          <a:stretch/>
        </p:blipFill>
        <p:spPr>
          <a:xfrm rot="-5400000">
            <a:off x="-3574388" y="3163847"/>
            <a:ext cx="7147341" cy="215183"/>
          </a:xfrm>
          <a:prstGeom prst="rect">
            <a:avLst/>
          </a:prstGeom>
        </p:spPr>
      </p:pic>
      <p:pic>
        <p:nvPicPr>
          <p:cNvPr id="12" name="Picture 11" descr="A blue and green rectangle frame&#10;&#10;AI-generated content may be incorrect.">
            <a:extLst>
              <a:ext uri="{FF2B5EF4-FFF2-40B4-BE49-F238E27FC236}">
                <a16:creationId xmlns:a16="http://schemas.microsoft.com/office/drawing/2014/main" id="{ED3A484A-9052-ABAF-2011-AACE4A3B77B8}"/>
              </a:ext>
            </a:extLst>
          </p:cNvPr>
          <p:cNvPicPr>
            <a:picLocks noChangeAspect="1"/>
          </p:cNvPicPr>
          <p:nvPr/>
        </p:nvPicPr>
        <p:blipFill>
          <a:blip r:embed="rId2"/>
          <a:srcRect l="24" t="90776" r="60" b="210"/>
          <a:stretch/>
        </p:blipFill>
        <p:spPr>
          <a:xfrm rot="5400000">
            <a:off x="8589903" y="3219264"/>
            <a:ext cx="7147341" cy="215183"/>
          </a:xfrm>
          <a:prstGeom prst="rect">
            <a:avLst/>
          </a:prstGeom>
        </p:spPr>
      </p:pic>
      <p:pic>
        <p:nvPicPr>
          <p:cNvPr id="13" name="Picture 12" descr="A blue and green rectangle frame&#10;&#10;AI-generated content may be incorrect.">
            <a:extLst>
              <a:ext uri="{FF2B5EF4-FFF2-40B4-BE49-F238E27FC236}">
                <a16:creationId xmlns:a16="http://schemas.microsoft.com/office/drawing/2014/main" id="{F1AB28BF-D299-4AA8-8F2F-31D6936522DA}"/>
              </a:ext>
            </a:extLst>
          </p:cNvPr>
          <p:cNvPicPr>
            <a:picLocks noChangeAspect="1"/>
          </p:cNvPicPr>
          <p:nvPr/>
        </p:nvPicPr>
        <p:blipFill>
          <a:blip r:embed="rId2"/>
          <a:srcRect l="24" t="90776" r="60" b="210"/>
          <a:stretch/>
        </p:blipFill>
        <p:spPr>
          <a:xfrm rot="10800000">
            <a:off x="-207732" y="-188952"/>
            <a:ext cx="12287377" cy="519981"/>
          </a:xfrm>
          <a:prstGeom prst="rect">
            <a:avLst/>
          </a:prstGeom>
        </p:spPr>
      </p:pic>
      <p:pic>
        <p:nvPicPr>
          <p:cNvPr id="9" name="Picture 8" descr="A blue and green rectangle frame&#10;&#10;AI-generated content may be incorrect.">
            <a:extLst>
              <a:ext uri="{FF2B5EF4-FFF2-40B4-BE49-F238E27FC236}">
                <a16:creationId xmlns:a16="http://schemas.microsoft.com/office/drawing/2014/main" id="{906D33A6-6A29-92D4-86BF-44CCE8BD8517}"/>
              </a:ext>
            </a:extLst>
          </p:cNvPr>
          <p:cNvPicPr>
            <a:picLocks noChangeAspect="1"/>
          </p:cNvPicPr>
          <p:nvPr/>
        </p:nvPicPr>
        <p:blipFill>
          <a:blip r:embed="rId2"/>
          <a:srcRect l="24" t="90776" r="60" b="210"/>
          <a:stretch/>
        </p:blipFill>
        <p:spPr>
          <a:xfrm>
            <a:off x="-83041" y="6378102"/>
            <a:ext cx="12356649" cy="519983"/>
          </a:xfrm>
          <a:prstGeom prst="rect">
            <a:avLst/>
          </a:prstGeom>
        </p:spPr>
      </p:pic>
      <p:sp>
        <p:nvSpPr>
          <p:cNvPr id="24" name="TextBox 23">
            <a:extLst>
              <a:ext uri="{FF2B5EF4-FFF2-40B4-BE49-F238E27FC236}">
                <a16:creationId xmlns:a16="http://schemas.microsoft.com/office/drawing/2014/main" id="{0CC7243F-CC60-3D79-D6CA-0900CAD1695B}"/>
              </a:ext>
            </a:extLst>
          </p:cNvPr>
          <p:cNvSpPr txBox="1"/>
          <p:nvPr/>
        </p:nvSpPr>
        <p:spPr>
          <a:xfrm>
            <a:off x="3315924" y="6376344"/>
            <a:ext cx="5558046" cy="461665"/>
          </a:xfrm>
          <a:prstGeom prst="rect">
            <a:avLst/>
          </a:prstGeom>
          <a:noFill/>
        </p:spPr>
        <p:txBody>
          <a:bodyPr wrap="square" lIns="91440" tIns="45720" rIns="91440" bIns="45720" rtlCol="0" anchor="t">
            <a:spAutoFit/>
          </a:bodyPr>
          <a:lstStyle/>
          <a:p>
            <a:pPr algn="ctr"/>
            <a:r>
              <a:rPr lang="en-CA" sz="2400" b="1" dirty="0">
                <a:solidFill>
                  <a:schemeClr val="bg1"/>
                </a:solidFill>
                <a:latin typeface="Book Antiqua"/>
              </a:rPr>
              <a:t> -  W e l c o m e  -</a:t>
            </a:r>
          </a:p>
        </p:txBody>
      </p:sp>
      <p:sp>
        <p:nvSpPr>
          <p:cNvPr id="18" name="Rectangle 17">
            <a:extLst>
              <a:ext uri="{FF2B5EF4-FFF2-40B4-BE49-F238E27FC236}">
                <a16:creationId xmlns:a16="http://schemas.microsoft.com/office/drawing/2014/main" id="{1B176EB9-5C83-CE0E-FAE4-5584D09C4472}"/>
              </a:ext>
            </a:extLst>
          </p:cNvPr>
          <p:cNvSpPr/>
          <p:nvPr/>
        </p:nvSpPr>
        <p:spPr>
          <a:xfrm rot="13278271">
            <a:off x="-131127" y="-250176"/>
            <a:ext cx="628990" cy="1018566"/>
          </a:xfrm>
          <a:prstGeom prst="rect">
            <a:avLst/>
          </a:prstGeom>
          <a:solidFill>
            <a:srgbClr val="0E9C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Rectangle 18">
            <a:extLst>
              <a:ext uri="{FF2B5EF4-FFF2-40B4-BE49-F238E27FC236}">
                <a16:creationId xmlns:a16="http://schemas.microsoft.com/office/drawing/2014/main" id="{769B0FE0-3405-FAF4-0B21-2B526BA8FA18}"/>
              </a:ext>
            </a:extLst>
          </p:cNvPr>
          <p:cNvSpPr/>
          <p:nvPr/>
        </p:nvSpPr>
        <p:spPr>
          <a:xfrm rot="7941075">
            <a:off x="11656797" y="-235521"/>
            <a:ext cx="628990" cy="1018566"/>
          </a:xfrm>
          <a:prstGeom prst="rect">
            <a:avLst/>
          </a:prstGeom>
          <a:solidFill>
            <a:srgbClr val="0DA1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TextBox 14">
            <a:extLst>
              <a:ext uri="{FF2B5EF4-FFF2-40B4-BE49-F238E27FC236}">
                <a16:creationId xmlns:a16="http://schemas.microsoft.com/office/drawing/2014/main" id="{AA606611-D8B4-D1EB-CD78-58B10BB9D55E}"/>
              </a:ext>
            </a:extLst>
          </p:cNvPr>
          <p:cNvSpPr txBox="1"/>
          <p:nvPr/>
        </p:nvSpPr>
        <p:spPr>
          <a:xfrm>
            <a:off x="1639523" y="-6681"/>
            <a:ext cx="9021682" cy="400110"/>
          </a:xfrm>
          <a:prstGeom prst="rect">
            <a:avLst/>
          </a:prstGeom>
          <a:noFill/>
        </p:spPr>
        <p:txBody>
          <a:bodyPr wrap="square" lIns="91440" tIns="45720" rIns="91440" bIns="45720" rtlCol="0" anchor="t">
            <a:spAutoFit/>
          </a:bodyPr>
          <a:lstStyle/>
          <a:p>
            <a:pPr algn="ctr"/>
            <a:r>
              <a:rPr lang="en-CA" sz="2000" b="1" dirty="0">
                <a:solidFill>
                  <a:schemeClr val="bg1"/>
                </a:solidFill>
                <a:latin typeface="Book Antiqua"/>
              </a:rPr>
              <a:t>- An Evidence Based Assessment Using City Of Toronto Open Data -</a:t>
            </a:r>
            <a:endParaRPr lang="en-CA" sz="2000" dirty="0">
              <a:solidFill>
                <a:schemeClr val="bg1"/>
              </a:solidFill>
              <a:latin typeface="Book Antiqua"/>
            </a:endParaRPr>
          </a:p>
        </p:txBody>
      </p:sp>
      <p:pic>
        <p:nvPicPr>
          <p:cNvPr id="5" name="Picture 4" descr="A colorful circle with text&#10;&#10;AI-generated content may be incorrect.">
            <a:extLst>
              <a:ext uri="{FF2B5EF4-FFF2-40B4-BE49-F238E27FC236}">
                <a16:creationId xmlns:a16="http://schemas.microsoft.com/office/drawing/2014/main" id="{5273E6B5-6EC4-1D68-ABF0-FBD78AD34F5F}"/>
              </a:ext>
            </a:extLst>
          </p:cNvPr>
          <p:cNvPicPr>
            <a:picLocks noChangeAspect="1"/>
          </p:cNvPicPr>
          <p:nvPr/>
        </p:nvPicPr>
        <p:blipFill>
          <a:blip r:embed="rId3"/>
          <a:srcRect l="20950" t="1096" r="21970" b="75005"/>
          <a:stretch/>
        </p:blipFill>
        <p:spPr>
          <a:xfrm>
            <a:off x="602770" y="3853838"/>
            <a:ext cx="4649104" cy="2234021"/>
          </a:xfrm>
          <a:prstGeom prst="rect">
            <a:avLst/>
          </a:prstGeom>
        </p:spPr>
      </p:pic>
      <p:sp>
        <p:nvSpPr>
          <p:cNvPr id="7" name="TextBox 2">
            <a:extLst>
              <a:ext uri="{FF2B5EF4-FFF2-40B4-BE49-F238E27FC236}">
                <a16:creationId xmlns:a16="http://schemas.microsoft.com/office/drawing/2014/main" id="{A317172A-FB80-5E8E-AADC-14D8A2FF0632}"/>
              </a:ext>
            </a:extLst>
          </p:cNvPr>
          <p:cNvSpPr txBox="1"/>
          <p:nvPr/>
        </p:nvSpPr>
        <p:spPr>
          <a:xfrm>
            <a:off x="863310" y="618123"/>
            <a:ext cx="10470002" cy="309228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CA" sz="2000" b="1" dirty="0">
                <a:latin typeface="Book Antiqua"/>
                <a:cs typeface="Segoe UI"/>
              </a:rPr>
              <a:t>Introduction</a:t>
            </a:r>
            <a:endParaRPr lang="en-US" dirty="0"/>
          </a:p>
          <a:p>
            <a:pPr algn="just">
              <a:lnSpc>
                <a:spcPct val="150000"/>
              </a:lnSpc>
            </a:pPr>
            <a:r>
              <a:rPr lang="en-CA" dirty="0">
                <a:latin typeface="Book Antiqua"/>
                <a:cs typeface="Segoe UI"/>
              </a:rPr>
              <a:t>This presentation explores the distribution and trends of crime across Toronto’s neighbourhoods, focusing on areas with the highest incident counts. By analyzing open data from the City of Toronto, I have identified key trends, compared crime rates relative to population, and examined the impact of existing neighbourhood initiatives. Although the City of Toronto has implemented many safety measures, my findings show that additional targeted interventions are necessary and needed, especially in areas near George Brown’s St. James Campus, because I plan to move closer to there.</a:t>
            </a:r>
            <a:r>
              <a:rPr lang="en-US" dirty="0">
                <a:latin typeface="Book Antiqua"/>
                <a:cs typeface="Segoe UI"/>
              </a:rPr>
              <a:t> </a:t>
            </a:r>
          </a:p>
        </p:txBody>
      </p:sp>
      <p:sp>
        <p:nvSpPr>
          <p:cNvPr id="8" name="TextBox 3">
            <a:extLst>
              <a:ext uri="{FF2B5EF4-FFF2-40B4-BE49-F238E27FC236}">
                <a16:creationId xmlns:a16="http://schemas.microsoft.com/office/drawing/2014/main" id="{89565AA5-69AB-3B0E-31BE-175B3C3FB0EF}"/>
              </a:ext>
            </a:extLst>
          </p:cNvPr>
          <p:cNvSpPr txBox="1"/>
          <p:nvPr/>
        </p:nvSpPr>
        <p:spPr>
          <a:xfrm>
            <a:off x="5393974" y="3856625"/>
            <a:ext cx="6345499" cy="171335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nSpc>
                <a:spcPct val="150000"/>
              </a:lnSpc>
              <a:buFont typeface="Arial"/>
              <a:buChar char="•"/>
            </a:pPr>
            <a:r>
              <a:rPr lang="en-US" dirty="0">
                <a:latin typeface="Book Antiqua"/>
                <a:cs typeface="Segoe UI"/>
              </a:rPr>
              <a:t>​</a:t>
            </a:r>
            <a:r>
              <a:rPr lang="en-CA" dirty="0">
                <a:latin typeface="Book Antiqua"/>
                <a:cs typeface="Arial"/>
              </a:rPr>
              <a:t>Overview of crime distribution across neighbourhoods.</a:t>
            </a:r>
            <a:r>
              <a:rPr lang="en-US" dirty="0">
                <a:latin typeface="Book Antiqua"/>
                <a:cs typeface="Arial"/>
              </a:rPr>
              <a:t> ​</a:t>
            </a:r>
            <a:endParaRPr lang="en-US" dirty="0">
              <a:latin typeface="Aptos" panose="020B0004020202020204"/>
              <a:cs typeface="Arial"/>
            </a:endParaRPr>
          </a:p>
          <a:p>
            <a:pPr marL="228600" indent="-228600">
              <a:lnSpc>
                <a:spcPct val="150000"/>
              </a:lnSpc>
              <a:buFont typeface="Arial"/>
              <a:buChar char="•"/>
            </a:pPr>
            <a:r>
              <a:rPr lang="en-CA" dirty="0">
                <a:latin typeface="Book Antiqua"/>
                <a:cs typeface="Arial"/>
              </a:rPr>
              <a:t>Examination of yearly trends and per capita crime rates.</a:t>
            </a:r>
            <a:r>
              <a:rPr lang="en-US" dirty="0">
                <a:latin typeface="Book Antiqua"/>
                <a:cs typeface="Arial"/>
              </a:rPr>
              <a:t> ​</a:t>
            </a:r>
          </a:p>
          <a:p>
            <a:pPr marL="228600" indent="-228600">
              <a:lnSpc>
                <a:spcPct val="150000"/>
              </a:lnSpc>
              <a:buFont typeface="Arial"/>
              <a:buChar char="•"/>
            </a:pPr>
            <a:r>
              <a:rPr lang="en-CA" dirty="0">
                <a:latin typeface="Book Antiqua"/>
                <a:cs typeface="Arial"/>
              </a:rPr>
              <a:t>Evaluation of current municipal interventions.</a:t>
            </a:r>
            <a:r>
              <a:rPr lang="en-US" dirty="0">
                <a:latin typeface="Book Antiqua"/>
                <a:cs typeface="Arial"/>
              </a:rPr>
              <a:t> ​</a:t>
            </a:r>
          </a:p>
          <a:p>
            <a:pPr marL="228600" indent="-228600">
              <a:lnSpc>
                <a:spcPct val="150000"/>
              </a:lnSpc>
              <a:buFont typeface="Arial"/>
              <a:buChar char="•"/>
            </a:pPr>
            <a:r>
              <a:rPr lang="en-CA" dirty="0">
                <a:latin typeface="Book Antiqua"/>
                <a:cs typeface="Arial"/>
              </a:rPr>
              <a:t>Preliminary conclusion: More targeted actions is needed.</a:t>
            </a:r>
            <a:r>
              <a:rPr lang="en-US" dirty="0">
                <a:latin typeface="Book Antiqua"/>
                <a:cs typeface="Arial"/>
              </a:rPr>
              <a:t> </a:t>
            </a:r>
          </a:p>
        </p:txBody>
      </p:sp>
    </p:spTree>
    <p:extLst>
      <p:ext uri="{BB962C8B-B14F-4D97-AF65-F5344CB8AC3E}">
        <p14:creationId xmlns:p14="http://schemas.microsoft.com/office/powerpoint/2010/main" val="148051908"/>
      </p:ext>
    </p:extLst>
  </p:cSld>
  <p:clrMapOvr>
    <a:masterClrMapping/>
  </p:clrMapOvr>
  <p:transition spd="med">
    <p:pull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8D398-F5BD-58DC-D8CD-1DD9063ED8BA}"/>
            </a:ext>
          </a:extLst>
        </p:cNvPr>
        <p:cNvGrpSpPr/>
        <p:nvPr/>
      </p:nvGrpSpPr>
      <p:grpSpPr>
        <a:xfrm>
          <a:off x="0" y="0"/>
          <a:ext cx="0" cy="0"/>
          <a:chOff x="0" y="0"/>
          <a:chExt cx="0" cy="0"/>
        </a:xfrm>
      </p:grpSpPr>
      <p:pic>
        <p:nvPicPr>
          <p:cNvPr id="11" name="Picture 10" descr="A blue and green rectangle frame&#10;&#10;AI-generated content may be incorrect.">
            <a:extLst>
              <a:ext uri="{FF2B5EF4-FFF2-40B4-BE49-F238E27FC236}">
                <a16:creationId xmlns:a16="http://schemas.microsoft.com/office/drawing/2014/main" id="{5A978F3E-373A-AF32-CAB7-FF2128456EF2}"/>
              </a:ext>
            </a:extLst>
          </p:cNvPr>
          <p:cNvPicPr>
            <a:picLocks noChangeAspect="1"/>
          </p:cNvPicPr>
          <p:nvPr/>
        </p:nvPicPr>
        <p:blipFill>
          <a:blip r:embed="rId2"/>
          <a:srcRect l="24" t="90776" r="60" b="210"/>
          <a:stretch/>
        </p:blipFill>
        <p:spPr>
          <a:xfrm rot="-5400000">
            <a:off x="-3574388" y="3163847"/>
            <a:ext cx="7147341" cy="215183"/>
          </a:xfrm>
          <a:prstGeom prst="rect">
            <a:avLst/>
          </a:prstGeom>
        </p:spPr>
      </p:pic>
      <p:pic>
        <p:nvPicPr>
          <p:cNvPr id="12" name="Picture 11" descr="A blue and green rectangle frame&#10;&#10;AI-generated content may be incorrect.">
            <a:extLst>
              <a:ext uri="{FF2B5EF4-FFF2-40B4-BE49-F238E27FC236}">
                <a16:creationId xmlns:a16="http://schemas.microsoft.com/office/drawing/2014/main" id="{A8E15E93-63FD-D8F3-B69C-CD10321A0D3D}"/>
              </a:ext>
            </a:extLst>
          </p:cNvPr>
          <p:cNvPicPr>
            <a:picLocks noChangeAspect="1"/>
          </p:cNvPicPr>
          <p:nvPr/>
        </p:nvPicPr>
        <p:blipFill>
          <a:blip r:embed="rId2"/>
          <a:srcRect l="24" t="90776" r="60" b="210"/>
          <a:stretch/>
        </p:blipFill>
        <p:spPr>
          <a:xfrm rot="5400000">
            <a:off x="8589903" y="3219264"/>
            <a:ext cx="7147341" cy="215183"/>
          </a:xfrm>
          <a:prstGeom prst="rect">
            <a:avLst/>
          </a:prstGeom>
        </p:spPr>
      </p:pic>
      <p:pic>
        <p:nvPicPr>
          <p:cNvPr id="13" name="Picture 12" descr="A blue and green rectangle frame&#10;&#10;AI-generated content may be incorrect.">
            <a:extLst>
              <a:ext uri="{FF2B5EF4-FFF2-40B4-BE49-F238E27FC236}">
                <a16:creationId xmlns:a16="http://schemas.microsoft.com/office/drawing/2014/main" id="{4F07D360-4149-0E70-11D5-123A09B08FE3}"/>
              </a:ext>
            </a:extLst>
          </p:cNvPr>
          <p:cNvPicPr>
            <a:picLocks noChangeAspect="1"/>
          </p:cNvPicPr>
          <p:nvPr/>
        </p:nvPicPr>
        <p:blipFill>
          <a:blip r:embed="rId2"/>
          <a:srcRect l="24" t="90776" r="60" b="210"/>
          <a:stretch/>
        </p:blipFill>
        <p:spPr>
          <a:xfrm rot="10800000">
            <a:off x="-207732" y="-188952"/>
            <a:ext cx="12287377" cy="519981"/>
          </a:xfrm>
          <a:prstGeom prst="rect">
            <a:avLst/>
          </a:prstGeom>
        </p:spPr>
      </p:pic>
      <p:pic>
        <p:nvPicPr>
          <p:cNvPr id="9" name="Picture 8" descr="A blue and green rectangle frame&#10;&#10;AI-generated content may be incorrect.">
            <a:extLst>
              <a:ext uri="{FF2B5EF4-FFF2-40B4-BE49-F238E27FC236}">
                <a16:creationId xmlns:a16="http://schemas.microsoft.com/office/drawing/2014/main" id="{AC769229-DFAB-A7C3-36C5-0FBC74EA01C7}"/>
              </a:ext>
            </a:extLst>
          </p:cNvPr>
          <p:cNvPicPr>
            <a:picLocks noChangeAspect="1"/>
          </p:cNvPicPr>
          <p:nvPr/>
        </p:nvPicPr>
        <p:blipFill>
          <a:blip r:embed="rId2"/>
          <a:srcRect l="24" t="90776" r="60" b="210"/>
          <a:stretch/>
        </p:blipFill>
        <p:spPr>
          <a:xfrm>
            <a:off x="-83041" y="6378102"/>
            <a:ext cx="12356649" cy="519983"/>
          </a:xfrm>
          <a:prstGeom prst="rect">
            <a:avLst/>
          </a:prstGeom>
        </p:spPr>
      </p:pic>
      <p:sp>
        <p:nvSpPr>
          <p:cNvPr id="24" name="TextBox 23">
            <a:extLst>
              <a:ext uri="{FF2B5EF4-FFF2-40B4-BE49-F238E27FC236}">
                <a16:creationId xmlns:a16="http://schemas.microsoft.com/office/drawing/2014/main" id="{C1A50A80-9688-555C-C7AE-A1A2B34C6B9A}"/>
              </a:ext>
            </a:extLst>
          </p:cNvPr>
          <p:cNvSpPr txBox="1"/>
          <p:nvPr/>
        </p:nvSpPr>
        <p:spPr>
          <a:xfrm>
            <a:off x="3315924" y="6376344"/>
            <a:ext cx="5558046" cy="461665"/>
          </a:xfrm>
          <a:prstGeom prst="rect">
            <a:avLst/>
          </a:prstGeom>
          <a:noFill/>
        </p:spPr>
        <p:txBody>
          <a:bodyPr wrap="square" lIns="91440" tIns="45720" rIns="91440" bIns="45720" rtlCol="0" anchor="t">
            <a:spAutoFit/>
          </a:bodyPr>
          <a:lstStyle/>
          <a:p>
            <a:pPr algn="ctr"/>
            <a:r>
              <a:rPr lang="en-CA" sz="2400" b="1" dirty="0">
                <a:solidFill>
                  <a:schemeClr val="bg1"/>
                </a:solidFill>
                <a:latin typeface="Book Antiqua"/>
              </a:rPr>
              <a:t> -  PRESENTATIONS OBJECTIVE  -</a:t>
            </a:r>
          </a:p>
        </p:txBody>
      </p:sp>
      <p:sp>
        <p:nvSpPr>
          <p:cNvPr id="18" name="Rectangle 17">
            <a:extLst>
              <a:ext uri="{FF2B5EF4-FFF2-40B4-BE49-F238E27FC236}">
                <a16:creationId xmlns:a16="http://schemas.microsoft.com/office/drawing/2014/main" id="{D14CAC65-D85E-C61D-1822-467C549F3E7C}"/>
              </a:ext>
            </a:extLst>
          </p:cNvPr>
          <p:cNvSpPr/>
          <p:nvPr/>
        </p:nvSpPr>
        <p:spPr>
          <a:xfrm rot="13278271">
            <a:off x="-131127" y="-250176"/>
            <a:ext cx="628990" cy="1018566"/>
          </a:xfrm>
          <a:prstGeom prst="rect">
            <a:avLst/>
          </a:prstGeom>
          <a:solidFill>
            <a:srgbClr val="0E9C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Rectangle 18">
            <a:extLst>
              <a:ext uri="{FF2B5EF4-FFF2-40B4-BE49-F238E27FC236}">
                <a16:creationId xmlns:a16="http://schemas.microsoft.com/office/drawing/2014/main" id="{431B03C7-4849-38BE-DED2-1DD769F84466}"/>
              </a:ext>
            </a:extLst>
          </p:cNvPr>
          <p:cNvSpPr/>
          <p:nvPr/>
        </p:nvSpPr>
        <p:spPr>
          <a:xfrm rot="7941075">
            <a:off x="11656797" y="-235521"/>
            <a:ext cx="628990" cy="1018566"/>
          </a:xfrm>
          <a:prstGeom prst="rect">
            <a:avLst/>
          </a:prstGeom>
          <a:solidFill>
            <a:srgbClr val="0DA1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TextBox 14">
            <a:extLst>
              <a:ext uri="{FF2B5EF4-FFF2-40B4-BE49-F238E27FC236}">
                <a16:creationId xmlns:a16="http://schemas.microsoft.com/office/drawing/2014/main" id="{76D59467-B2C4-EDA6-F578-A50666BCE4D3}"/>
              </a:ext>
            </a:extLst>
          </p:cNvPr>
          <p:cNvSpPr txBox="1"/>
          <p:nvPr/>
        </p:nvSpPr>
        <p:spPr>
          <a:xfrm>
            <a:off x="1639523" y="-6681"/>
            <a:ext cx="9021682" cy="400110"/>
          </a:xfrm>
          <a:prstGeom prst="rect">
            <a:avLst/>
          </a:prstGeom>
          <a:noFill/>
        </p:spPr>
        <p:txBody>
          <a:bodyPr wrap="square" lIns="91440" tIns="45720" rIns="91440" bIns="45720" rtlCol="0" anchor="t">
            <a:spAutoFit/>
          </a:bodyPr>
          <a:lstStyle/>
          <a:p>
            <a:pPr algn="ctr"/>
            <a:r>
              <a:rPr lang="en-CA" sz="2000" b="1" dirty="0">
                <a:solidFill>
                  <a:srgbClr val="FFFFFF"/>
                </a:solidFill>
                <a:latin typeface="Book Antiqua"/>
              </a:rPr>
              <a:t>- </a:t>
            </a:r>
            <a:r>
              <a:rPr lang="en-CA" sz="2000" dirty="0">
                <a:solidFill>
                  <a:srgbClr val="FFFFFF"/>
                </a:solidFill>
                <a:latin typeface="Book Antiqua"/>
                <a:cs typeface="Arial"/>
              </a:rPr>
              <a:t>Data Used from City of Toronto’s Open Data: “Major Crime Indicators”</a:t>
            </a:r>
            <a:r>
              <a:rPr lang="en-CA" sz="2000" b="1" dirty="0">
                <a:solidFill>
                  <a:srgbClr val="FFFFFF"/>
                </a:solidFill>
                <a:latin typeface="Book Antiqua"/>
              </a:rPr>
              <a:t>  -</a:t>
            </a:r>
            <a:endParaRPr lang="en-CA" sz="2000" dirty="0">
              <a:solidFill>
                <a:srgbClr val="FFFFFF"/>
              </a:solidFill>
              <a:latin typeface="Book Antiqua"/>
            </a:endParaRPr>
          </a:p>
        </p:txBody>
      </p:sp>
      <p:sp>
        <p:nvSpPr>
          <p:cNvPr id="2" name="TextBox 1">
            <a:extLst>
              <a:ext uri="{FF2B5EF4-FFF2-40B4-BE49-F238E27FC236}">
                <a16:creationId xmlns:a16="http://schemas.microsoft.com/office/drawing/2014/main" id="{2E002635-025D-68A2-5647-BE420585990E}"/>
              </a:ext>
            </a:extLst>
          </p:cNvPr>
          <p:cNvSpPr txBox="1"/>
          <p:nvPr/>
        </p:nvSpPr>
        <p:spPr>
          <a:xfrm>
            <a:off x="940330" y="2849438"/>
            <a:ext cx="10300042" cy="18932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CA" sz="2000" dirty="0">
                <a:latin typeface="Book Antiqua"/>
                <a:cs typeface="Segoe UI"/>
              </a:rPr>
              <a:t>I’ve examined which neighbourhoods have the highest amount of crime /crime rate and the factors contributing it, how crime rates change over time, both in absolute terms and relative to population, and the effectiveness of current safety initiatives and whether they are sufficient in reducing incidents.</a:t>
            </a:r>
            <a:r>
              <a:rPr lang="en-US" sz="2000" dirty="0">
                <a:latin typeface="Book Antiqua"/>
                <a:cs typeface="Segoe UI"/>
              </a:rPr>
              <a:t> </a:t>
            </a:r>
            <a:endParaRPr lang="en-CA" sz="2000" b="1" dirty="0">
              <a:latin typeface="Book Antiqua"/>
              <a:cs typeface="Segoe UI"/>
            </a:endParaRPr>
          </a:p>
        </p:txBody>
      </p:sp>
      <p:sp>
        <p:nvSpPr>
          <p:cNvPr id="3" name="TextBox 2">
            <a:extLst>
              <a:ext uri="{FF2B5EF4-FFF2-40B4-BE49-F238E27FC236}">
                <a16:creationId xmlns:a16="http://schemas.microsoft.com/office/drawing/2014/main" id="{F10C1880-5561-C8CA-C63A-AA314F785C64}"/>
              </a:ext>
            </a:extLst>
          </p:cNvPr>
          <p:cNvSpPr txBox="1"/>
          <p:nvPr/>
        </p:nvSpPr>
        <p:spPr>
          <a:xfrm>
            <a:off x="958817" y="1546232"/>
            <a:ext cx="9947540" cy="11441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lnSpc>
                <a:spcPct val="150000"/>
              </a:lnSpc>
            </a:pPr>
            <a:r>
              <a:rPr lang="en-CA" sz="2400" b="1" dirty="0">
                <a:latin typeface="Book Antiqua"/>
                <a:cs typeface="Segoe UI"/>
              </a:rPr>
              <a:t>Is Enough Being Done About Toronto Neighbourhoods </a:t>
            </a:r>
            <a:endParaRPr lang="en-US">
              <a:latin typeface="Aptos" panose="020B0004020202020204"/>
              <a:cs typeface="Segoe UI"/>
            </a:endParaRPr>
          </a:p>
          <a:p>
            <a:pPr algn="ctr">
              <a:lnSpc>
                <a:spcPct val="150000"/>
              </a:lnSpc>
            </a:pPr>
            <a:r>
              <a:rPr lang="en-CA" sz="2400" b="1" dirty="0">
                <a:latin typeface="Book Antiqua"/>
                <a:cs typeface="Segoe UI"/>
              </a:rPr>
              <a:t>With The Highest Number Of Crimes?</a:t>
            </a:r>
            <a:r>
              <a:rPr lang="en-US" sz="2400" dirty="0">
                <a:latin typeface="Book Antiqua"/>
                <a:cs typeface="Segoe UI"/>
              </a:rPr>
              <a:t>​</a:t>
            </a:r>
            <a:endParaRPr lang="en-US"/>
          </a:p>
        </p:txBody>
      </p:sp>
      <p:sp>
        <p:nvSpPr>
          <p:cNvPr id="4" name="Rectangle 3">
            <a:extLst>
              <a:ext uri="{FF2B5EF4-FFF2-40B4-BE49-F238E27FC236}">
                <a16:creationId xmlns:a16="http://schemas.microsoft.com/office/drawing/2014/main" id="{EE971153-CD30-6D03-0BE4-999B02678861}"/>
              </a:ext>
            </a:extLst>
          </p:cNvPr>
          <p:cNvSpPr/>
          <p:nvPr/>
        </p:nvSpPr>
        <p:spPr>
          <a:xfrm>
            <a:off x="8427766" y="5805001"/>
            <a:ext cx="438490" cy="583139"/>
          </a:xfrm>
          <a:prstGeom prst="rect">
            <a:avLst/>
          </a:prstGeom>
          <a:solidFill>
            <a:srgbClr val="0E9C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Rectangle 4">
            <a:extLst>
              <a:ext uri="{FF2B5EF4-FFF2-40B4-BE49-F238E27FC236}">
                <a16:creationId xmlns:a16="http://schemas.microsoft.com/office/drawing/2014/main" id="{D41C9D68-905C-392B-57D1-2E8BAF2975C6}"/>
              </a:ext>
            </a:extLst>
          </p:cNvPr>
          <p:cNvSpPr/>
          <p:nvPr/>
        </p:nvSpPr>
        <p:spPr>
          <a:xfrm>
            <a:off x="7792367" y="5629158"/>
            <a:ext cx="452098" cy="760031"/>
          </a:xfrm>
          <a:prstGeom prst="rect">
            <a:avLst/>
          </a:prstGeom>
          <a:solidFill>
            <a:srgbClr val="0DA1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Rectangle 5">
            <a:extLst>
              <a:ext uri="{FF2B5EF4-FFF2-40B4-BE49-F238E27FC236}">
                <a16:creationId xmlns:a16="http://schemas.microsoft.com/office/drawing/2014/main" id="{1FD17E16-FD2B-4CE6-9982-3795EEC29373}"/>
              </a:ext>
            </a:extLst>
          </p:cNvPr>
          <p:cNvSpPr/>
          <p:nvPr/>
        </p:nvSpPr>
        <p:spPr>
          <a:xfrm>
            <a:off x="9071439" y="5223254"/>
            <a:ext cx="452098" cy="1195459"/>
          </a:xfrm>
          <a:prstGeom prst="rect">
            <a:avLst/>
          </a:prstGeom>
          <a:solidFill>
            <a:srgbClr val="0DA1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Rectangle 7">
            <a:extLst>
              <a:ext uri="{FF2B5EF4-FFF2-40B4-BE49-F238E27FC236}">
                <a16:creationId xmlns:a16="http://schemas.microsoft.com/office/drawing/2014/main" id="{F27C357E-8D05-AC67-C1AA-AB8DFA26FC91}"/>
              </a:ext>
            </a:extLst>
          </p:cNvPr>
          <p:cNvSpPr/>
          <p:nvPr/>
        </p:nvSpPr>
        <p:spPr>
          <a:xfrm>
            <a:off x="9734051" y="5437608"/>
            <a:ext cx="452097" cy="1209067"/>
          </a:xfrm>
          <a:prstGeom prst="rect">
            <a:avLst/>
          </a:prstGeom>
          <a:solidFill>
            <a:srgbClr val="0E9C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Rectangle 9">
            <a:extLst>
              <a:ext uri="{FF2B5EF4-FFF2-40B4-BE49-F238E27FC236}">
                <a16:creationId xmlns:a16="http://schemas.microsoft.com/office/drawing/2014/main" id="{2578CBBB-F6ED-2EA7-EFD8-45BF1975238D}"/>
              </a:ext>
            </a:extLst>
          </p:cNvPr>
          <p:cNvSpPr/>
          <p:nvPr/>
        </p:nvSpPr>
        <p:spPr>
          <a:xfrm>
            <a:off x="10446529" y="4909520"/>
            <a:ext cx="452098" cy="1508424"/>
          </a:xfrm>
          <a:prstGeom prst="rect">
            <a:avLst/>
          </a:prstGeom>
          <a:solidFill>
            <a:srgbClr val="0DA1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Rectangle 13">
            <a:extLst>
              <a:ext uri="{FF2B5EF4-FFF2-40B4-BE49-F238E27FC236}">
                <a16:creationId xmlns:a16="http://schemas.microsoft.com/office/drawing/2014/main" id="{A994781F-0A98-3B08-BD02-59090BB25C37}"/>
              </a:ext>
            </a:extLst>
          </p:cNvPr>
          <p:cNvSpPr/>
          <p:nvPr/>
        </p:nvSpPr>
        <p:spPr>
          <a:xfrm>
            <a:off x="11162801" y="4498714"/>
            <a:ext cx="438490" cy="1903032"/>
          </a:xfrm>
          <a:prstGeom prst="rect">
            <a:avLst/>
          </a:prstGeom>
          <a:solidFill>
            <a:srgbClr val="0E9C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 name="Rectangle 15">
            <a:extLst>
              <a:ext uri="{FF2B5EF4-FFF2-40B4-BE49-F238E27FC236}">
                <a16:creationId xmlns:a16="http://schemas.microsoft.com/office/drawing/2014/main" id="{0843971B-AD87-F253-8EBE-DEE542C63111}"/>
              </a:ext>
            </a:extLst>
          </p:cNvPr>
          <p:cNvSpPr/>
          <p:nvPr/>
        </p:nvSpPr>
        <p:spPr>
          <a:xfrm>
            <a:off x="7175908" y="6090750"/>
            <a:ext cx="438490" cy="338212"/>
          </a:xfrm>
          <a:prstGeom prst="rect">
            <a:avLst/>
          </a:prstGeom>
          <a:solidFill>
            <a:srgbClr val="0E9C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16826178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575B2-6420-427B-781D-E1610F9243C6}"/>
            </a:ext>
          </a:extLst>
        </p:cNvPr>
        <p:cNvGrpSpPr/>
        <p:nvPr/>
      </p:nvGrpSpPr>
      <p:grpSpPr>
        <a:xfrm>
          <a:off x="0" y="0"/>
          <a:ext cx="0" cy="0"/>
          <a:chOff x="0" y="0"/>
          <a:chExt cx="0" cy="0"/>
        </a:xfrm>
      </p:grpSpPr>
      <p:pic>
        <p:nvPicPr>
          <p:cNvPr id="11" name="Picture 10" descr="A blue and green rectangle frame&#10;&#10;AI-generated content may be incorrect.">
            <a:extLst>
              <a:ext uri="{FF2B5EF4-FFF2-40B4-BE49-F238E27FC236}">
                <a16:creationId xmlns:a16="http://schemas.microsoft.com/office/drawing/2014/main" id="{722CE59D-B866-1D9F-E3B5-B9106863399B}"/>
              </a:ext>
            </a:extLst>
          </p:cNvPr>
          <p:cNvPicPr>
            <a:picLocks noChangeAspect="1"/>
          </p:cNvPicPr>
          <p:nvPr/>
        </p:nvPicPr>
        <p:blipFill>
          <a:blip r:embed="rId2"/>
          <a:srcRect l="24" t="90776" r="60" b="210"/>
          <a:stretch/>
        </p:blipFill>
        <p:spPr>
          <a:xfrm rot="-5400000">
            <a:off x="-3574388" y="3163847"/>
            <a:ext cx="7147341" cy="215183"/>
          </a:xfrm>
          <a:prstGeom prst="rect">
            <a:avLst/>
          </a:prstGeom>
        </p:spPr>
      </p:pic>
      <p:pic>
        <p:nvPicPr>
          <p:cNvPr id="12" name="Picture 11" descr="A blue and green rectangle frame&#10;&#10;AI-generated content may be incorrect.">
            <a:extLst>
              <a:ext uri="{FF2B5EF4-FFF2-40B4-BE49-F238E27FC236}">
                <a16:creationId xmlns:a16="http://schemas.microsoft.com/office/drawing/2014/main" id="{AF372287-4206-44B7-CB85-0C1E1D3B2D1E}"/>
              </a:ext>
            </a:extLst>
          </p:cNvPr>
          <p:cNvPicPr>
            <a:picLocks noChangeAspect="1"/>
          </p:cNvPicPr>
          <p:nvPr/>
        </p:nvPicPr>
        <p:blipFill>
          <a:blip r:embed="rId2"/>
          <a:srcRect l="24" t="90776" r="60" b="210"/>
          <a:stretch/>
        </p:blipFill>
        <p:spPr>
          <a:xfrm rot="5400000">
            <a:off x="8589903" y="3219264"/>
            <a:ext cx="7147341" cy="215183"/>
          </a:xfrm>
          <a:prstGeom prst="rect">
            <a:avLst/>
          </a:prstGeom>
        </p:spPr>
      </p:pic>
      <p:pic>
        <p:nvPicPr>
          <p:cNvPr id="13" name="Picture 12" descr="A blue and green rectangle frame&#10;&#10;AI-generated content may be incorrect.">
            <a:extLst>
              <a:ext uri="{FF2B5EF4-FFF2-40B4-BE49-F238E27FC236}">
                <a16:creationId xmlns:a16="http://schemas.microsoft.com/office/drawing/2014/main" id="{267D06AD-F84F-9D51-A770-7A693D2474C3}"/>
              </a:ext>
            </a:extLst>
          </p:cNvPr>
          <p:cNvPicPr>
            <a:picLocks noChangeAspect="1"/>
          </p:cNvPicPr>
          <p:nvPr/>
        </p:nvPicPr>
        <p:blipFill>
          <a:blip r:embed="rId2"/>
          <a:srcRect l="24" t="90776" r="60" b="210"/>
          <a:stretch/>
        </p:blipFill>
        <p:spPr>
          <a:xfrm rot="10800000">
            <a:off x="-207732" y="-188952"/>
            <a:ext cx="12287377" cy="519981"/>
          </a:xfrm>
          <a:prstGeom prst="rect">
            <a:avLst/>
          </a:prstGeom>
        </p:spPr>
      </p:pic>
      <p:pic>
        <p:nvPicPr>
          <p:cNvPr id="9" name="Picture 8" descr="A blue and green rectangle frame&#10;&#10;AI-generated content may be incorrect.">
            <a:extLst>
              <a:ext uri="{FF2B5EF4-FFF2-40B4-BE49-F238E27FC236}">
                <a16:creationId xmlns:a16="http://schemas.microsoft.com/office/drawing/2014/main" id="{F98BD018-9F63-8213-33C8-C59FD2900C85}"/>
              </a:ext>
            </a:extLst>
          </p:cNvPr>
          <p:cNvPicPr>
            <a:picLocks noChangeAspect="1"/>
          </p:cNvPicPr>
          <p:nvPr/>
        </p:nvPicPr>
        <p:blipFill>
          <a:blip r:embed="rId2"/>
          <a:srcRect l="24" t="90776" r="60" b="210"/>
          <a:stretch/>
        </p:blipFill>
        <p:spPr>
          <a:xfrm>
            <a:off x="-83041" y="6378102"/>
            <a:ext cx="12356649" cy="519983"/>
          </a:xfrm>
          <a:prstGeom prst="rect">
            <a:avLst/>
          </a:prstGeom>
        </p:spPr>
      </p:pic>
      <p:sp>
        <p:nvSpPr>
          <p:cNvPr id="15" name="TextBox 14">
            <a:extLst>
              <a:ext uri="{FF2B5EF4-FFF2-40B4-BE49-F238E27FC236}">
                <a16:creationId xmlns:a16="http://schemas.microsoft.com/office/drawing/2014/main" id="{EEBB40C2-794F-E696-7368-AAE8E53E1757}"/>
              </a:ext>
            </a:extLst>
          </p:cNvPr>
          <p:cNvSpPr txBox="1"/>
          <p:nvPr/>
        </p:nvSpPr>
        <p:spPr>
          <a:xfrm>
            <a:off x="1639523" y="-6681"/>
            <a:ext cx="9021682" cy="400110"/>
          </a:xfrm>
          <a:prstGeom prst="rect">
            <a:avLst/>
          </a:prstGeom>
          <a:noFill/>
        </p:spPr>
        <p:txBody>
          <a:bodyPr wrap="square" lIns="91440" tIns="45720" rIns="91440" bIns="45720" rtlCol="0" anchor="t">
            <a:spAutoFit/>
          </a:bodyPr>
          <a:lstStyle/>
          <a:p>
            <a:pPr algn="ctr"/>
            <a:r>
              <a:rPr lang="en-CA" sz="2000" b="1" dirty="0">
                <a:solidFill>
                  <a:schemeClr val="bg1"/>
                </a:solidFill>
                <a:latin typeface="Book Antiqua"/>
              </a:rPr>
              <a:t>- 1  -</a:t>
            </a:r>
            <a:endParaRPr lang="en-CA" sz="2000" dirty="0">
              <a:solidFill>
                <a:schemeClr val="bg1"/>
              </a:solidFill>
              <a:latin typeface="Book Antiqua"/>
            </a:endParaRPr>
          </a:p>
        </p:txBody>
      </p:sp>
      <p:pic>
        <p:nvPicPr>
          <p:cNvPr id="4" name="Picture 3" descr="A graph with numbers and a bar&#10;&#10;AI-generated content may be incorrect.">
            <a:extLst>
              <a:ext uri="{FF2B5EF4-FFF2-40B4-BE49-F238E27FC236}">
                <a16:creationId xmlns:a16="http://schemas.microsoft.com/office/drawing/2014/main" id="{A6AB6E77-1F52-E18E-530A-BBB5C457E66D}"/>
              </a:ext>
            </a:extLst>
          </p:cNvPr>
          <p:cNvPicPr>
            <a:picLocks noChangeAspect="1"/>
          </p:cNvPicPr>
          <p:nvPr/>
        </p:nvPicPr>
        <p:blipFill>
          <a:blip r:embed="rId3"/>
          <a:srcRect l="2243" t="3179" r="3091" b="4386"/>
          <a:stretch/>
        </p:blipFill>
        <p:spPr>
          <a:xfrm>
            <a:off x="162391" y="3073059"/>
            <a:ext cx="7441609" cy="3311447"/>
          </a:xfrm>
          <a:prstGeom prst="rect">
            <a:avLst/>
          </a:prstGeom>
        </p:spPr>
      </p:pic>
      <p:sp>
        <p:nvSpPr>
          <p:cNvPr id="18" name="Rectangle 17">
            <a:extLst>
              <a:ext uri="{FF2B5EF4-FFF2-40B4-BE49-F238E27FC236}">
                <a16:creationId xmlns:a16="http://schemas.microsoft.com/office/drawing/2014/main" id="{B3A832C2-14D1-31A9-21A8-6ECCB0A1688E}"/>
              </a:ext>
            </a:extLst>
          </p:cNvPr>
          <p:cNvSpPr/>
          <p:nvPr/>
        </p:nvSpPr>
        <p:spPr>
          <a:xfrm rot="13278271">
            <a:off x="-131127" y="-250176"/>
            <a:ext cx="628990" cy="1018566"/>
          </a:xfrm>
          <a:prstGeom prst="rect">
            <a:avLst/>
          </a:prstGeom>
          <a:solidFill>
            <a:srgbClr val="0E9C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2" name="Picture 1" descr="A colorful circle with text&#10;&#10;AI-generated content may be incorrect.">
            <a:extLst>
              <a:ext uri="{FF2B5EF4-FFF2-40B4-BE49-F238E27FC236}">
                <a16:creationId xmlns:a16="http://schemas.microsoft.com/office/drawing/2014/main" id="{C7F66590-5B29-4679-8605-6B659F029542}"/>
              </a:ext>
            </a:extLst>
          </p:cNvPr>
          <p:cNvPicPr>
            <a:picLocks noChangeAspect="1"/>
          </p:cNvPicPr>
          <p:nvPr/>
        </p:nvPicPr>
        <p:blipFill>
          <a:blip r:embed="rId4"/>
          <a:srcRect l="4986" t="24568" r="6034" b="521"/>
          <a:stretch/>
        </p:blipFill>
        <p:spPr>
          <a:xfrm>
            <a:off x="6785126" y="1034526"/>
            <a:ext cx="5017503" cy="4814957"/>
          </a:xfrm>
          <a:prstGeom prst="rect">
            <a:avLst/>
          </a:prstGeom>
        </p:spPr>
      </p:pic>
      <p:sp>
        <p:nvSpPr>
          <p:cNvPr id="19" name="Rectangle 18">
            <a:extLst>
              <a:ext uri="{FF2B5EF4-FFF2-40B4-BE49-F238E27FC236}">
                <a16:creationId xmlns:a16="http://schemas.microsoft.com/office/drawing/2014/main" id="{4A447E56-3478-227F-7ACE-9B3CEC5AEF15}"/>
              </a:ext>
            </a:extLst>
          </p:cNvPr>
          <p:cNvSpPr/>
          <p:nvPr/>
        </p:nvSpPr>
        <p:spPr>
          <a:xfrm rot="7941075">
            <a:off x="11656797" y="-235521"/>
            <a:ext cx="628990" cy="1018566"/>
          </a:xfrm>
          <a:prstGeom prst="rect">
            <a:avLst/>
          </a:prstGeom>
          <a:solidFill>
            <a:srgbClr val="0DA1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TextBox 4">
            <a:extLst>
              <a:ext uri="{FF2B5EF4-FFF2-40B4-BE49-F238E27FC236}">
                <a16:creationId xmlns:a16="http://schemas.microsoft.com/office/drawing/2014/main" id="{DC4765FD-6CDD-C5BC-C36E-9D19CCA01556}"/>
              </a:ext>
            </a:extLst>
          </p:cNvPr>
          <p:cNvSpPr txBox="1"/>
          <p:nvPr/>
        </p:nvSpPr>
        <p:spPr>
          <a:xfrm>
            <a:off x="2193985" y="569345"/>
            <a:ext cx="781840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CA" sz="2400" b="1" dirty="0">
                <a:latin typeface="Book Antiqua"/>
                <a:cs typeface="Arial"/>
              </a:rPr>
              <a:t>Neighbourhoods with Highest Total Crime Number</a:t>
            </a:r>
          </a:p>
        </p:txBody>
      </p:sp>
      <p:pic>
        <p:nvPicPr>
          <p:cNvPr id="3" name="Picture 2" descr="A colorful circle with text&#10;&#10;AI-generated content may be incorrect.">
            <a:extLst>
              <a:ext uri="{FF2B5EF4-FFF2-40B4-BE49-F238E27FC236}">
                <a16:creationId xmlns:a16="http://schemas.microsoft.com/office/drawing/2014/main" id="{287E05FC-0915-F937-A458-A7E4099548E6}"/>
              </a:ext>
            </a:extLst>
          </p:cNvPr>
          <p:cNvPicPr>
            <a:picLocks noChangeAspect="1"/>
          </p:cNvPicPr>
          <p:nvPr/>
        </p:nvPicPr>
        <p:blipFill>
          <a:blip r:embed="rId4"/>
          <a:srcRect l="20950" t="1096" r="21970" b="75005"/>
          <a:stretch/>
        </p:blipFill>
        <p:spPr>
          <a:xfrm>
            <a:off x="516505" y="1035875"/>
            <a:ext cx="4649104" cy="2234021"/>
          </a:xfrm>
          <a:prstGeom prst="rect">
            <a:avLst/>
          </a:prstGeom>
        </p:spPr>
      </p:pic>
    </p:spTree>
    <p:extLst>
      <p:ext uri="{BB962C8B-B14F-4D97-AF65-F5344CB8AC3E}">
        <p14:creationId xmlns:p14="http://schemas.microsoft.com/office/powerpoint/2010/main" val="14733030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22ABE-A343-1C9E-74E6-88D2F824964B}"/>
            </a:ext>
          </a:extLst>
        </p:cNvPr>
        <p:cNvGrpSpPr/>
        <p:nvPr/>
      </p:nvGrpSpPr>
      <p:grpSpPr>
        <a:xfrm>
          <a:off x="0" y="0"/>
          <a:ext cx="0" cy="0"/>
          <a:chOff x="0" y="0"/>
          <a:chExt cx="0" cy="0"/>
        </a:xfrm>
      </p:grpSpPr>
      <p:pic>
        <p:nvPicPr>
          <p:cNvPr id="11" name="Picture 10" descr="A blue and green rectangle frame&#10;&#10;AI-generated content may be incorrect.">
            <a:extLst>
              <a:ext uri="{FF2B5EF4-FFF2-40B4-BE49-F238E27FC236}">
                <a16:creationId xmlns:a16="http://schemas.microsoft.com/office/drawing/2014/main" id="{D3A12B8E-C109-8593-2B64-B8E40E366FD7}"/>
              </a:ext>
            </a:extLst>
          </p:cNvPr>
          <p:cNvPicPr>
            <a:picLocks noChangeAspect="1"/>
          </p:cNvPicPr>
          <p:nvPr/>
        </p:nvPicPr>
        <p:blipFill>
          <a:blip r:embed="rId2"/>
          <a:srcRect l="24" t="90776" r="60" b="210"/>
          <a:stretch/>
        </p:blipFill>
        <p:spPr>
          <a:xfrm rot="-5400000">
            <a:off x="-3574388" y="3163847"/>
            <a:ext cx="7147341" cy="215183"/>
          </a:xfrm>
          <a:prstGeom prst="rect">
            <a:avLst/>
          </a:prstGeom>
        </p:spPr>
      </p:pic>
      <p:pic>
        <p:nvPicPr>
          <p:cNvPr id="12" name="Picture 11" descr="A blue and green rectangle frame&#10;&#10;AI-generated content may be incorrect.">
            <a:extLst>
              <a:ext uri="{FF2B5EF4-FFF2-40B4-BE49-F238E27FC236}">
                <a16:creationId xmlns:a16="http://schemas.microsoft.com/office/drawing/2014/main" id="{CD9AC4C4-61D2-58C3-0515-708BDC111664}"/>
              </a:ext>
            </a:extLst>
          </p:cNvPr>
          <p:cNvPicPr>
            <a:picLocks noChangeAspect="1"/>
          </p:cNvPicPr>
          <p:nvPr/>
        </p:nvPicPr>
        <p:blipFill>
          <a:blip r:embed="rId2"/>
          <a:srcRect l="24" t="90776" r="60" b="210"/>
          <a:stretch/>
        </p:blipFill>
        <p:spPr>
          <a:xfrm rot="5400000">
            <a:off x="8589903" y="3219264"/>
            <a:ext cx="7147341" cy="215183"/>
          </a:xfrm>
          <a:prstGeom prst="rect">
            <a:avLst/>
          </a:prstGeom>
        </p:spPr>
      </p:pic>
      <p:pic>
        <p:nvPicPr>
          <p:cNvPr id="13" name="Picture 12" descr="A blue and green rectangle frame&#10;&#10;AI-generated content may be incorrect.">
            <a:extLst>
              <a:ext uri="{FF2B5EF4-FFF2-40B4-BE49-F238E27FC236}">
                <a16:creationId xmlns:a16="http://schemas.microsoft.com/office/drawing/2014/main" id="{FC02F9D6-6C18-426A-8840-CE5869D32DCA}"/>
              </a:ext>
            </a:extLst>
          </p:cNvPr>
          <p:cNvPicPr>
            <a:picLocks noChangeAspect="1"/>
          </p:cNvPicPr>
          <p:nvPr/>
        </p:nvPicPr>
        <p:blipFill>
          <a:blip r:embed="rId2"/>
          <a:srcRect l="24" t="90776" r="60" b="210"/>
          <a:stretch/>
        </p:blipFill>
        <p:spPr>
          <a:xfrm rot="10800000">
            <a:off x="-207732" y="-188952"/>
            <a:ext cx="12287377" cy="519981"/>
          </a:xfrm>
          <a:prstGeom prst="rect">
            <a:avLst/>
          </a:prstGeom>
        </p:spPr>
      </p:pic>
      <p:pic>
        <p:nvPicPr>
          <p:cNvPr id="9" name="Picture 8" descr="A blue and green rectangle frame&#10;&#10;AI-generated content may be incorrect.">
            <a:extLst>
              <a:ext uri="{FF2B5EF4-FFF2-40B4-BE49-F238E27FC236}">
                <a16:creationId xmlns:a16="http://schemas.microsoft.com/office/drawing/2014/main" id="{9381A694-DEA6-C784-92FB-CBCBC33EF71A}"/>
              </a:ext>
            </a:extLst>
          </p:cNvPr>
          <p:cNvPicPr>
            <a:picLocks noChangeAspect="1"/>
          </p:cNvPicPr>
          <p:nvPr/>
        </p:nvPicPr>
        <p:blipFill>
          <a:blip r:embed="rId2"/>
          <a:srcRect l="24" t="90776" r="60" b="210"/>
          <a:stretch/>
        </p:blipFill>
        <p:spPr>
          <a:xfrm>
            <a:off x="-83041" y="6378102"/>
            <a:ext cx="12356649" cy="519983"/>
          </a:xfrm>
          <a:prstGeom prst="rect">
            <a:avLst/>
          </a:prstGeom>
        </p:spPr>
      </p:pic>
      <p:sp>
        <p:nvSpPr>
          <p:cNvPr id="18" name="Rectangle 17">
            <a:extLst>
              <a:ext uri="{FF2B5EF4-FFF2-40B4-BE49-F238E27FC236}">
                <a16:creationId xmlns:a16="http://schemas.microsoft.com/office/drawing/2014/main" id="{700F0B14-3CDD-E440-0469-519154F2E454}"/>
              </a:ext>
            </a:extLst>
          </p:cNvPr>
          <p:cNvSpPr/>
          <p:nvPr/>
        </p:nvSpPr>
        <p:spPr>
          <a:xfrm rot="13278271">
            <a:off x="-131127" y="-250176"/>
            <a:ext cx="628990" cy="1018566"/>
          </a:xfrm>
          <a:prstGeom prst="rect">
            <a:avLst/>
          </a:prstGeom>
          <a:solidFill>
            <a:srgbClr val="0E9C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Rectangle 18">
            <a:extLst>
              <a:ext uri="{FF2B5EF4-FFF2-40B4-BE49-F238E27FC236}">
                <a16:creationId xmlns:a16="http://schemas.microsoft.com/office/drawing/2014/main" id="{7C73EDDA-6C8E-7F38-76A4-50338DAD1BD8}"/>
              </a:ext>
            </a:extLst>
          </p:cNvPr>
          <p:cNvSpPr/>
          <p:nvPr/>
        </p:nvSpPr>
        <p:spPr>
          <a:xfrm rot="7941075">
            <a:off x="11656797" y="-235521"/>
            <a:ext cx="628990" cy="1018566"/>
          </a:xfrm>
          <a:prstGeom prst="rect">
            <a:avLst/>
          </a:prstGeom>
          <a:solidFill>
            <a:srgbClr val="0DA1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TextBox 14">
            <a:extLst>
              <a:ext uri="{FF2B5EF4-FFF2-40B4-BE49-F238E27FC236}">
                <a16:creationId xmlns:a16="http://schemas.microsoft.com/office/drawing/2014/main" id="{83920D8A-51D4-CD7D-7901-6545CD9F2DE8}"/>
              </a:ext>
            </a:extLst>
          </p:cNvPr>
          <p:cNvSpPr txBox="1"/>
          <p:nvPr/>
        </p:nvSpPr>
        <p:spPr>
          <a:xfrm>
            <a:off x="1639523" y="-6681"/>
            <a:ext cx="9021682" cy="400110"/>
          </a:xfrm>
          <a:prstGeom prst="rect">
            <a:avLst/>
          </a:prstGeom>
          <a:noFill/>
        </p:spPr>
        <p:txBody>
          <a:bodyPr wrap="square" lIns="91440" tIns="45720" rIns="91440" bIns="45720" rtlCol="0" anchor="t">
            <a:spAutoFit/>
          </a:bodyPr>
          <a:lstStyle/>
          <a:p>
            <a:pPr algn="ctr"/>
            <a:r>
              <a:rPr lang="en-CA" sz="2000" b="1" dirty="0">
                <a:solidFill>
                  <a:schemeClr val="bg1"/>
                </a:solidFill>
                <a:latin typeface="Book Antiqua"/>
              </a:rPr>
              <a:t>- 3  -</a:t>
            </a:r>
            <a:endParaRPr lang="en-CA" sz="2000" dirty="0">
              <a:solidFill>
                <a:schemeClr val="bg1"/>
              </a:solidFill>
              <a:latin typeface="Book Antiqua"/>
            </a:endParaRPr>
          </a:p>
        </p:txBody>
      </p:sp>
      <p:pic>
        <p:nvPicPr>
          <p:cNvPr id="2" name="Picture 1">
            <a:extLst>
              <a:ext uri="{FF2B5EF4-FFF2-40B4-BE49-F238E27FC236}">
                <a16:creationId xmlns:a16="http://schemas.microsoft.com/office/drawing/2014/main" id="{FEEC52B5-7111-4155-A706-0EB960D3A838}"/>
              </a:ext>
            </a:extLst>
          </p:cNvPr>
          <p:cNvPicPr>
            <a:picLocks noChangeAspect="1"/>
          </p:cNvPicPr>
          <p:nvPr/>
        </p:nvPicPr>
        <p:blipFill>
          <a:blip r:embed="rId3"/>
          <a:srcRect r="50943" b="-463"/>
          <a:stretch/>
        </p:blipFill>
        <p:spPr>
          <a:xfrm>
            <a:off x="6527320" y="333635"/>
            <a:ext cx="5535296" cy="3085258"/>
          </a:xfrm>
          <a:prstGeom prst="rect">
            <a:avLst/>
          </a:prstGeom>
        </p:spPr>
      </p:pic>
      <p:pic>
        <p:nvPicPr>
          <p:cNvPr id="3" name="Picture 2">
            <a:extLst>
              <a:ext uri="{FF2B5EF4-FFF2-40B4-BE49-F238E27FC236}">
                <a16:creationId xmlns:a16="http://schemas.microsoft.com/office/drawing/2014/main" id="{1F2ED964-6CAF-EB92-333E-F37FF4504B38}"/>
              </a:ext>
            </a:extLst>
          </p:cNvPr>
          <p:cNvPicPr>
            <a:picLocks noChangeAspect="1"/>
          </p:cNvPicPr>
          <p:nvPr/>
        </p:nvPicPr>
        <p:blipFill>
          <a:blip r:embed="rId3"/>
          <a:srcRect l="51018" r="-72" b="-985"/>
          <a:stretch/>
        </p:blipFill>
        <p:spPr>
          <a:xfrm>
            <a:off x="6527319" y="3424766"/>
            <a:ext cx="5534954" cy="2943256"/>
          </a:xfrm>
          <a:prstGeom prst="rect">
            <a:avLst/>
          </a:prstGeom>
        </p:spPr>
      </p:pic>
      <p:sp>
        <p:nvSpPr>
          <p:cNvPr id="4" name="TextBox 6">
            <a:extLst>
              <a:ext uri="{FF2B5EF4-FFF2-40B4-BE49-F238E27FC236}">
                <a16:creationId xmlns:a16="http://schemas.microsoft.com/office/drawing/2014/main" id="{076AE8C5-961E-14E0-771F-BCD553BE44B7}"/>
              </a:ext>
            </a:extLst>
          </p:cNvPr>
          <p:cNvSpPr txBox="1"/>
          <p:nvPr/>
        </p:nvSpPr>
        <p:spPr>
          <a:xfrm>
            <a:off x="232457" y="459995"/>
            <a:ext cx="6293695" cy="5725798"/>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CA" sz="1600" b="1" dirty="0">
                <a:latin typeface="Book Antiqua"/>
                <a:cs typeface="Segoe UI"/>
              </a:rPr>
              <a:t>Initiatives and Interventions in High-Crime Neighbourhoods</a:t>
            </a:r>
            <a:r>
              <a:rPr lang="en-US" sz="1600" dirty="0">
                <a:latin typeface="Book Antiqua"/>
                <a:cs typeface="Segoe UI"/>
              </a:rPr>
              <a:t> </a:t>
            </a:r>
            <a:endParaRPr lang="en-US" sz="1600" dirty="0"/>
          </a:p>
          <a:p>
            <a:pPr>
              <a:lnSpc>
                <a:spcPct val="150000"/>
              </a:lnSpc>
            </a:pPr>
            <a:r>
              <a:rPr lang="en-CA" sz="1600" dirty="0">
                <a:latin typeface="Book Antiqua"/>
                <a:cs typeface="Segoe UI"/>
              </a:rPr>
              <a:t>The City of Toronto has implemented several initiatives to combat crime in it most affected neighbourhoods. </a:t>
            </a:r>
            <a:endParaRPr lang="en-US" sz="1600" dirty="0">
              <a:latin typeface="Book Antiqua"/>
              <a:cs typeface="Segoe UI"/>
            </a:endParaRPr>
          </a:p>
          <a:p>
            <a:pPr>
              <a:lnSpc>
                <a:spcPct val="150000"/>
              </a:lnSpc>
            </a:pPr>
            <a:r>
              <a:rPr lang="en-CA" sz="1600" dirty="0">
                <a:latin typeface="Book Antiqua"/>
                <a:cs typeface="Segoe UI"/>
              </a:rPr>
              <a:t>Data from the Major Crime Indicators reflects periods during which these initiatives were launched, allowing me to relate intervention timing with changes in crime trends.</a:t>
            </a:r>
            <a:endParaRPr lang="en-US" dirty="0">
              <a:latin typeface="Aptos" panose="020B0004020202020204"/>
              <a:cs typeface="Segoe UI"/>
            </a:endParaRPr>
          </a:p>
          <a:p>
            <a:pPr>
              <a:lnSpc>
                <a:spcPct val="150000"/>
              </a:lnSpc>
            </a:pPr>
            <a:r>
              <a:rPr lang="en-US" sz="1600" dirty="0">
                <a:latin typeface="Book Antiqua"/>
                <a:cs typeface="Segoe UI"/>
              </a:rPr>
              <a:t> Despite these efforts, temporary results, some area continued to </a:t>
            </a:r>
            <a:r>
              <a:rPr lang="en-CA" sz="1600" dirty="0">
                <a:latin typeface="Book Antiqua"/>
                <a:cs typeface="Segoe UI"/>
              </a:rPr>
              <a:t>experience elevated crime rates. Thats why there still a need for additional or more targeted measures.</a:t>
            </a:r>
            <a:r>
              <a:rPr lang="en-US" sz="1600" dirty="0">
                <a:latin typeface="Book Antiqua"/>
                <a:cs typeface="Segoe UI"/>
              </a:rPr>
              <a:t> </a:t>
            </a:r>
            <a:endParaRPr lang="en-US"/>
          </a:p>
          <a:p>
            <a:pPr>
              <a:lnSpc>
                <a:spcPct val="150000"/>
              </a:lnSpc>
            </a:pPr>
            <a:r>
              <a:rPr lang="en-US" sz="1050" dirty="0">
                <a:latin typeface="Book Antiqua"/>
                <a:cs typeface="Segoe UI"/>
              </a:rPr>
              <a:t> </a:t>
            </a:r>
          </a:p>
          <a:p>
            <a:pPr>
              <a:lnSpc>
                <a:spcPct val="150000"/>
              </a:lnSpc>
            </a:pPr>
            <a:r>
              <a:rPr lang="en-CA" sz="1600" dirty="0">
                <a:latin typeface="Book Antiqua"/>
                <a:cs typeface="Segoe UI"/>
              </a:rPr>
              <a:t>Initiatives Like:</a:t>
            </a:r>
            <a:r>
              <a:rPr lang="en-US" sz="1600" dirty="0">
                <a:latin typeface="Book Antiqua"/>
                <a:cs typeface="Segoe UI"/>
              </a:rPr>
              <a:t> </a:t>
            </a:r>
          </a:p>
          <a:p>
            <a:pPr marL="228600" indent="-228600">
              <a:lnSpc>
                <a:spcPct val="150000"/>
              </a:lnSpc>
              <a:buAutoNum type="arabicPeriod"/>
            </a:pPr>
            <a:r>
              <a:rPr lang="en-CA" sz="1500" dirty="0">
                <a:latin typeface="Book Antiqua"/>
              </a:rPr>
              <a:t>Supervised Consumption Sites (SCS) in Moss Park and Church-Yonge Corridor</a:t>
            </a:r>
            <a:r>
              <a:rPr lang="en-US" sz="1500" dirty="0">
                <a:latin typeface="Book Antiqua"/>
              </a:rPr>
              <a:t> </a:t>
            </a:r>
            <a:endParaRPr lang="en-CA" sz="1500"/>
          </a:p>
          <a:p>
            <a:pPr marL="228600" indent="-228600">
              <a:lnSpc>
                <a:spcPct val="150000"/>
              </a:lnSpc>
              <a:buAutoNum type="arabicPeriod" startAt="2"/>
            </a:pPr>
            <a:r>
              <a:rPr lang="en-CA" sz="1500" dirty="0">
                <a:latin typeface="Book Antiqua"/>
              </a:rPr>
              <a:t>FOCUS Toronto on West Humber-Clairsville</a:t>
            </a:r>
            <a:r>
              <a:rPr lang="en-US" sz="1500" dirty="0">
                <a:latin typeface="Book Antiqua"/>
              </a:rPr>
              <a:t> </a:t>
            </a:r>
            <a:endParaRPr lang="en-CA" sz="1500"/>
          </a:p>
          <a:p>
            <a:pPr marL="228600" indent="-228600">
              <a:lnSpc>
                <a:spcPct val="150000"/>
              </a:lnSpc>
              <a:buAutoNum type="arabicPeriod" startAt="3"/>
            </a:pPr>
            <a:r>
              <a:rPr lang="en-CA" sz="1500" dirty="0">
                <a:latin typeface="Book Antiqua"/>
              </a:rPr>
              <a:t>Summer Safety Initiative and Neighbourhood Officers Program</a:t>
            </a:r>
            <a:r>
              <a:rPr lang="en-US" sz="1500" dirty="0">
                <a:latin typeface="Book Antiqua"/>
              </a:rPr>
              <a:t> </a:t>
            </a:r>
            <a:endParaRPr lang="en-CA" sz="1500"/>
          </a:p>
          <a:p>
            <a:pPr marL="228600" indent="-228600">
              <a:lnSpc>
                <a:spcPct val="150000"/>
              </a:lnSpc>
              <a:buAutoNum type="arabicPeriod" startAt="4"/>
            </a:pPr>
            <a:r>
              <a:rPr lang="en-CA" sz="1500" dirty="0">
                <a:latin typeface="Book Antiqua"/>
              </a:rPr>
              <a:t>Violence Reduction Program (VRP) in Toronto Community Housing</a:t>
            </a:r>
            <a:r>
              <a:rPr lang="en-US" sz="1500" dirty="0">
                <a:latin typeface="Book Antiqua"/>
              </a:rPr>
              <a:t> </a:t>
            </a:r>
            <a:endParaRPr lang="en-CA" sz="1500"/>
          </a:p>
        </p:txBody>
      </p:sp>
    </p:spTree>
    <p:extLst>
      <p:ext uri="{BB962C8B-B14F-4D97-AF65-F5344CB8AC3E}">
        <p14:creationId xmlns:p14="http://schemas.microsoft.com/office/powerpoint/2010/main" val="29575844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A37D0-E259-806E-E290-1D325119FDB4}"/>
            </a:ext>
          </a:extLst>
        </p:cNvPr>
        <p:cNvGrpSpPr/>
        <p:nvPr/>
      </p:nvGrpSpPr>
      <p:grpSpPr>
        <a:xfrm>
          <a:off x="0" y="0"/>
          <a:ext cx="0" cy="0"/>
          <a:chOff x="0" y="0"/>
          <a:chExt cx="0" cy="0"/>
        </a:xfrm>
      </p:grpSpPr>
      <p:pic>
        <p:nvPicPr>
          <p:cNvPr id="11" name="Picture 10" descr="A blue and green rectangle frame&#10;&#10;AI-generated content may be incorrect.">
            <a:extLst>
              <a:ext uri="{FF2B5EF4-FFF2-40B4-BE49-F238E27FC236}">
                <a16:creationId xmlns:a16="http://schemas.microsoft.com/office/drawing/2014/main" id="{AB124103-6C96-C79E-FA06-5EA77005293D}"/>
              </a:ext>
            </a:extLst>
          </p:cNvPr>
          <p:cNvPicPr>
            <a:picLocks noChangeAspect="1"/>
          </p:cNvPicPr>
          <p:nvPr/>
        </p:nvPicPr>
        <p:blipFill>
          <a:blip r:embed="rId2"/>
          <a:srcRect l="24" t="90776" r="60" b="210"/>
          <a:stretch/>
        </p:blipFill>
        <p:spPr>
          <a:xfrm rot="-5400000">
            <a:off x="-3574388" y="3163847"/>
            <a:ext cx="7147341" cy="215183"/>
          </a:xfrm>
          <a:prstGeom prst="rect">
            <a:avLst/>
          </a:prstGeom>
        </p:spPr>
      </p:pic>
      <p:pic>
        <p:nvPicPr>
          <p:cNvPr id="12" name="Picture 11" descr="A blue and green rectangle frame&#10;&#10;AI-generated content may be incorrect.">
            <a:extLst>
              <a:ext uri="{FF2B5EF4-FFF2-40B4-BE49-F238E27FC236}">
                <a16:creationId xmlns:a16="http://schemas.microsoft.com/office/drawing/2014/main" id="{97AB6C02-3CA5-A0AE-9DB2-0DA80BB0A8DF}"/>
              </a:ext>
            </a:extLst>
          </p:cNvPr>
          <p:cNvPicPr>
            <a:picLocks noChangeAspect="1"/>
          </p:cNvPicPr>
          <p:nvPr/>
        </p:nvPicPr>
        <p:blipFill>
          <a:blip r:embed="rId2"/>
          <a:srcRect l="24" t="90776" r="60" b="210"/>
          <a:stretch/>
        </p:blipFill>
        <p:spPr>
          <a:xfrm rot="5400000">
            <a:off x="8589903" y="3219264"/>
            <a:ext cx="7147341" cy="215183"/>
          </a:xfrm>
          <a:prstGeom prst="rect">
            <a:avLst/>
          </a:prstGeom>
        </p:spPr>
      </p:pic>
      <p:pic>
        <p:nvPicPr>
          <p:cNvPr id="13" name="Picture 12" descr="A blue and green rectangle frame&#10;&#10;AI-generated content may be incorrect.">
            <a:extLst>
              <a:ext uri="{FF2B5EF4-FFF2-40B4-BE49-F238E27FC236}">
                <a16:creationId xmlns:a16="http://schemas.microsoft.com/office/drawing/2014/main" id="{7E8F6471-9CAE-4C85-EDA2-B9C60F66C78B}"/>
              </a:ext>
            </a:extLst>
          </p:cNvPr>
          <p:cNvPicPr>
            <a:picLocks noChangeAspect="1"/>
          </p:cNvPicPr>
          <p:nvPr/>
        </p:nvPicPr>
        <p:blipFill>
          <a:blip r:embed="rId2"/>
          <a:srcRect l="24" t="90776" r="60" b="210"/>
          <a:stretch/>
        </p:blipFill>
        <p:spPr>
          <a:xfrm rot="10800000">
            <a:off x="-207732" y="-188952"/>
            <a:ext cx="12287377" cy="519981"/>
          </a:xfrm>
          <a:prstGeom prst="rect">
            <a:avLst/>
          </a:prstGeom>
        </p:spPr>
      </p:pic>
      <p:pic>
        <p:nvPicPr>
          <p:cNvPr id="9" name="Picture 8" descr="A blue and green rectangle frame&#10;&#10;AI-generated content may be incorrect.">
            <a:extLst>
              <a:ext uri="{FF2B5EF4-FFF2-40B4-BE49-F238E27FC236}">
                <a16:creationId xmlns:a16="http://schemas.microsoft.com/office/drawing/2014/main" id="{8EDC3CE8-9ED8-D406-50DF-B0BF6071CF99}"/>
              </a:ext>
            </a:extLst>
          </p:cNvPr>
          <p:cNvPicPr>
            <a:picLocks noChangeAspect="1"/>
          </p:cNvPicPr>
          <p:nvPr/>
        </p:nvPicPr>
        <p:blipFill>
          <a:blip r:embed="rId2"/>
          <a:srcRect l="24" t="90776" r="60" b="210"/>
          <a:stretch/>
        </p:blipFill>
        <p:spPr>
          <a:xfrm>
            <a:off x="-83041" y="6378102"/>
            <a:ext cx="12356649" cy="519983"/>
          </a:xfrm>
          <a:prstGeom prst="rect">
            <a:avLst/>
          </a:prstGeom>
        </p:spPr>
      </p:pic>
      <p:sp>
        <p:nvSpPr>
          <p:cNvPr id="18" name="Rectangle 17">
            <a:extLst>
              <a:ext uri="{FF2B5EF4-FFF2-40B4-BE49-F238E27FC236}">
                <a16:creationId xmlns:a16="http://schemas.microsoft.com/office/drawing/2014/main" id="{81F0E503-33E3-ADDE-7874-624829CEBBA7}"/>
              </a:ext>
            </a:extLst>
          </p:cNvPr>
          <p:cNvSpPr/>
          <p:nvPr/>
        </p:nvSpPr>
        <p:spPr>
          <a:xfrm rot="13278271">
            <a:off x="-131127" y="-250176"/>
            <a:ext cx="628990" cy="1018566"/>
          </a:xfrm>
          <a:prstGeom prst="rect">
            <a:avLst/>
          </a:prstGeom>
          <a:solidFill>
            <a:srgbClr val="0E9C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Rectangle 18">
            <a:extLst>
              <a:ext uri="{FF2B5EF4-FFF2-40B4-BE49-F238E27FC236}">
                <a16:creationId xmlns:a16="http://schemas.microsoft.com/office/drawing/2014/main" id="{B409CC20-6845-6AF1-79FB-BDA97F201902}"/>
              </a:ext>
            </a:extLst>
          </p:cNvPr>
          <p:cNvSpPr/>
          <p:nvPr/>
        </p:nvSpPr>
        <p:spPr>
          <a:xfrm rot="7941075">
            <a:off x="11656797" y="-235521"/>
            <a:ext cx="628990" cy="1018566"/>
          </a:xfrm>
          <a:prstGeom prst="rect">
            <a:avLst/>
          </a:prstGeom>
          <a:solidFill>
            <a:srgbClr val="0DA1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TextBox 14">
            <a:extLst>
              <a:ext uri="{FF2B5EF4-FFF2-40B4-BE49-F238E27FC236}">
                <a16:creationId xmlns:a16="http://schemas.microsoft.com/office/drawing/2014/main" id="{021AA359-08FF-81D9-B715-D17AE26E63B1}"/>
              </a:ext>
            </a:extLst>
          </p:cNvPr>
          <p:cNvSpPr txBox="1"/>
          <p:nvPr/>
        </p:nvSpPr>
        <p:spPr>
          <a:xfrm>
            <a:off x="1639523" y="-6681"/>
            <a:ext cx="9021682" cy="400110"/>
          </a:xfrm>
          <a:prstGeom prst="rect">
            <a:avLst/>
          </a:prstGeom>
          <a:noFill/>
        </p:spPr>
        <p:txBody>
          <a:bodyPr wrap="square" lIns="91440" tIns="45720" rIns="91440" bIns="45720" rtlCol="0" anchor="t">
            <a:spAutoFit/>
          </a:bodyPr>
          <a:lstStyle/>
          <a:p>
            <a:pPr algn="ctr"/>
            <a:r>
              <a:rPr lang="en-CA" sz="2000" b="1" dirty="0">
                <a:solidFill>
                  <a:schemeClr val="bg1"/>
                </a:solidFill>
                <a:latin typeface="Book Antiqua"/>
              </a:rPr>
              <a:t>- 2  -</a:t>
            </a:r>
            <a:endParaRPr lang="en-CA" sz="2000" dirty="0">
              <a:solidFill>
                <a:schemeClr val="bg1"/>
              </a:solidFill>
              <a:latin typeface="Book Antiqua"/>
            </a:endParaRPr>
          </a:p>
        </p:txBody>
      </p:sp>
      <p:pic>
        <p:nvPicPr>
          <p:cNvPr id="2" name="Picture 1" descr="A graph of different colored lines&#10;&#10;AI-generated content may be incorrect.">
            <a:extLst>
              <a:ext uri="{FF2B5EF4-FFF2-40B4-BE49-F238E27FC236}">
                <a16:creationId xmlns:a16="http://schemas.microsoft.com/office/drawing/2014/main" id="{A0EEB50F-85E8-0538-45D2-83DF265BF020}"/>
              </a:ext>
            </a:extLst>
          </p:cNvPr>
          <p:cNvPicPr>
            <a:picLocks noChangeAspect="1"/>
          </p:cNvPicPr>
          <p:nvPr/>
        </p:nvPicPr>
        <p:blipFill>
          <a:blip r:embed="rId3"/>
          <a:stretch>
            <a:fillRect/>
          </a:stretch>
        </p:blipFill>
        <p:spPr>
          <a:xfrm>
            <a:off x="1076325" y="500063"/>
            <a:ext cx="10039350" cy="5857875"/>
          </a:xfrm>
          <a:prstGeom prst="rect">
            <a:avLst/>
          </a:prstGeom>
        </p:spPr>
      </p:pic>
      <p:sp>
        <p:nvSpPr>
          <p:cNvPr id="4" name="TextBox 3">
            <a:extLst>
              <a:ext uri="{FF2B5EF4-FFF2-40B4-BE49-F238E27FC236}">
                <a16:creationId xmlns:a16="http://schemas.microsoft.com/office/drawing/2014/main" id="{7B471DD6-D37C-9A5B-0F87-02616D740838}"/>
              </a:ext>
            </a:extLst>
          </p:cNvPr>
          <p:cNvSpPr txBox="1"/>
          <p:nvPr/>
        </p:nvSpPr>
        <p:spPr>
          <a:xfrm>
            <a:off x="1417608" y="511836"/>
            <a:ext cx="7818407"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CA" sz="2000" b="1" dirty="0">
                <a:latin typeface="Book Antiqua"/>
                <a:cs typeface="Arial"/>
              </a:rPr>
              <a:t>Neighbourhood Crime Number Over The Years</a:t>
            </a:r>
          </a:p>
          <a:p>
            <a:pPr algn="ctr"/>
            <a:r>
              <a:rPr lang="en-CA" dirty="0">
                <a:latin typeface="Book Antiqua"/>
                <a:cs typeface="Arial"/>
              </a:rPr>
              <a:t>Notice The Drop During Covid And The Raise In Moss Park </a:t>
            </a:r>
          </a:p>
        </p:txBody>
      </p:sp>
    </p:spTree>
    <p:extLst>
      <p:ext uri="{BB962C8B-B14F-4D97-AF65-F5344CB8AC3E}">
        <p14:creationId xmlns:p14="http://schemas.microsoft.com/office/powerpoint/2010/main" val="13702848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79189-AAA1-4B93-6735-58A4173F6983}"/>
            </a:ext>
          </a:extLst>
        </p:cNvPr>
        <p:cNvGrpSpPr/>
        <p:nvPr/>
      </p:nvGrpSpPr>
      <p:grpSpPr>
        <a:xfrm>
          <a:off x="0" y="0"/>
          <a:ext cx="0" cy="0"/>
          <a:chOff x="0" y="0"/>
          <a:chExt cx="0" cy="0"/>
        </a:xfrm>
      </p:grpSpPr>
      <p:pic>
        <p:nvPicPr>
          <p:cNvPr id="11" name="Picture 10" descr="A blue and green rectangle frame&#10;&#10;AI-generated content may be incorrect.">
            <a:extLst>
              <a:ext uri="{FF2B5EF4-FFF2-40B4-BE49-F238E27FC236}">
                <a16:creationId xmlns:a16="http://schemas.microsoft.com/office/drawing/2014/main" id="{A70F11D3-8CD0-C678-594A-EEF46413DF4C}"/>
              </a:ext>
            </a:extLst>
          </p:cNvPr>
          <p:cNvPicPr>
            <a:picLocks noChangeAspect="1"/>
          </p:cNvPicPr>
          <p:nvPr/>
        </p:nvPicPr>
        <p:blipFill>
          <a:blip r:embed="rId2"/>
          <a:srcRect l="24" t="90776" r="60" b="210"/>
          <a:stretch/>
        </p:blipFill>
        <p:spPr>
          <a:xfrm rot="-5400000">
            <a:off x="-3574388" y="3163847"/>
            <a:ext cx="7147341" cy="215183"/>
          </a:xfrm>
          <a:prstGeom prst="rect">
            <a:avLst/>
          </a:prstGeom>
        </p:spPr>
      </p:pic>
      <p:pic>
        <p:nvPicPr>
          <p:cNvPr id="12" name="Picture 11" descr="A blue and green rectangle frame&#10;&#10;AI-generated content may be incorrect.">
            <a:extLst>
              <a:ext uri="{FF2B5EF4-FFF2-40B4-BE49-F238E27FC236}">
                <a16:creationId xmlns:a16="http://schemas.microsoft.com/office/drawing/2014/main" id="{B036A1AA-55B4-D335-AD0A-35130F7668C9}"/>
              </a:ext>
            </a:extLst>
          </p:cNvPr>
          <p:cNvPicPr>
            <a:picLocks noChangeAspect="1"/>
          </p:cNvPicPr>
          <p:nvPr/>
        </p:nvPicPr>
        <p:blipFill>
          <a:blip r:embed="rId2"/>
          <a:srcRect l="24" t="90776" r="60" b="210"/>
          <a:stretch/>
        </p:blipFill>
        <p:spPr>
          <a:xfrm rot="5400000">
            <a:off x="8589903" y="3219264"/>
            <a:ext cx="7147341" cy="215183"/>
          </a:xfrm>
          <a:prstGeom prst="rect">
            <a:avLst/>
          </a:prstGeom>
        </p:spPr>
      </p:pic>
      <p:pic>
        <p:nvPicPr>
          <p:cNvPr id="13" name="Picture 12" descr="A blue and green rectangle frame&#10;&#10;AI-generated content may be incorrect.">
            <a:extLst>
              <a:ext uri="{FF2B5EF4-FFF2-40B4-BE49-F238E27FC236}">
                <a16:creationId xmlns:a16="http://schemas.microsoft.com/office/drawing/2014/main" id="{D661E58B-615C-E968-5EE2-824B5BCFA786}"/>
              </a:ext>
            </a:extLst>
          </p:cNvPr>
          <p:cNvPicPr>
            <a:picLocks noChangeAspect="1"/>
          </p:cNvPicPr>
          <p:nvPr/>
        </p:nvPicPr>
        <p:blipFill>
          <a:blip r:embed="rId2"/>
          <a:srcRect l="24" t="90776" r="60" b="210"/>
          <a:stretch/>
        </p:blipFill>
        <p:spPr>
          <a:xfrm rot="10800000">
            <a:off x="-207732" y="-188952"/>
            <a:ext cx="12287377" cy="519981"/>
          </a:xfrm>
          <a:prstGeom prst="rect">
            <a:avLst/>
          </a:prstGeom>
        </p:spPr>
      </p:pic>
      <p:pic>
        <p:nvPicPr>
          <p:cNvPr id="9" name="Picture 8" descr="A blue and green rectangle frame&#10;&#10;AI-generated content may be incorrect.">
            <a:extLst>
              <a:ext uri="{FF2B5EF4-FFF2-40B4-BE49-F238E27FC236}">
                <a16:creationId xmlns:a16="http://schemas.microsoft.com/office/drawing/2014/main" id="{590D0163-FAC8-FAEF-8A5A-03B25B8DE4B7}"/>
              </a:ext>
            </a:extLst>
          </p:cNvPr>
          <p:cNvPicPr>
            <a:picLocks noChangeAspect="1"/>
          </p:cNvPicPr>
          <p:nvPr/>
        </p:nvPicPr>
        <p:blipFill>
          <a:blip r:embed="rId2"/>
          <a:srcRect l="24" t="90776" r="60" b="210"/>
          <a:stretch/>
        </p:blipFill>
        <p:spPr>
          <a:xfrm>
            <a:off x="-83041" y="6378102"/>
            <a:ext cx="12356649" cy="519983"/>
          </a:xfrm>
          <a:prstGeom prst="rect">
            <a:avLst/>
          </a:prstGeom>
        </p:spPr>
      </p:pic>
      <p:sp>
        <p:nvSpPr>
          <p:cNvPr id="18" name="Rectangle 17">
            <a:extLst>
              <a:ext uri="{FF2B5EF4-FFF2-40B4-BE49-F238E27FC236}">
                <a16:creationId xmlns:a16="http://schemas.microsoft.com/office/drawing/2014/main" id="{98A8288A-5BED-707B-D192-515C5817A924}"/>
              </a:ext>
            </a:extLst>
          </p:cNvPr>
          <p:cNvSpPr/>
          <p:nvPr/>
        </p:nvSpPr>
        <p:spPr>
          <a:xfrm rot="13278271">
            <a:off x="-131127" y="-250176"/>
            <a:ext cx="628990" cy="1018566"/>
          </a:xfrm>
          <a:prstGeom prst="rect">
            <a:avLst/>
          </a:prstGeom>
          <a:solidFill>
            <a:srgbClr val="0E9C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Rectangle 18">
            <a:extLst>
              <a:ext uri="{FF2B5EF4-FFF2-40B4-BE49-F238E27FC236}">
                <a16:creationId xmlns:a16="http://schemas.microsoft.com/office/drawing/2014/main" id="{27F78C47-8226-C1A0-3CE7-20D8679B40BD}"/>
              </a:ext>
            </a:extLst>
          </p:cNvPr>
          <p:cNvSpPr/>
          <p:nvPr/>
        </p:nvSpPr>
        <p:spPr>
          <a:xfrm rot="7941075">
            <a:off x="11656797" y="-235521"/>
            <a:ext cx="628990" cy="1018566"/>
          </a:xfrm>
          <a:prstGeom prst="rect">
            <a:avLst/>
          </a:prstGeom>
          <a:solidFill>
            <a:srgbClr val="0DA1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TextBox 14">
            <a:extLst>
              <a:ext uri="{FF2B5EF4-FFF2-40B4-BE49-F238E27FC236}">
                <a16:creationId xmlns:a16="http://schemas.microsoft.com/office/drawing/2014/main" id="{B22A5026-1E12-22D8-4D7B-CA45B2684EA1}"/>
              </a:ext>
            </a:extLst>
          </p:cNvPr>
          <p:cNvSpPr txBox="1"/>
          <p:nvPr/>
        </p:nvSpPr>
        <p:spPr>
          <a:xfrm>
            <a:off x="1639523" y="-6681"/>
            <a:ext cx="9021682" cy="400110"/>
          </a:xfrm>
          <a:prstGeom prst="rect">
            <a:avLst/>
          </a:prstGeom>
          <a:noFill/>
        </p:spPr>
        <p:txBody>
          <a:bodyPr wrap="square" lIns="91440" tIns="45720" rIns="91440" bIns="45720" rtlCol="0" anchor="t">
            <a:spAutoFit/>
          </a:bodyPr>
          <a:lstStyle/>
          <a:p>
            <a:pPr algn="ctr"/>
            <a:r>
              <a:rPr lang="en-CA" sz="2000" b="1" dirty="0">
                <a:solidFill>
                  <a:schemeClr val="bg1"/>
                </a:solidFill>
                <a:latin typeface="Book Antiqua"/>
              </a:rPr>
              <a:t>- 4   -</a:t>
            </a:r>
            <a:endParaRPr lang="en-CA" sz="2000" dirty="0">
              <a:solidFill>
                <a:schemeClr val="bg1"/>
              </a:solidFill>
              <a:latin typeface="Book Antiqua"/>
            </a:endParaRPr>
          </a:p>
        </p:txBody>
      </p:sp>
      <p:sp>
        <p:nvSpPr>
          <p:cNvPr id="2" name="TextBox 1">
            <a:extLst>
              <a:ext uri="{FF2B5EF4-FFF2-40B4-BE49-F238E27FC236}">
                <a16:creationId xmlns:a16="http://schemas.microsoft.com/office/drawing/2014/main" id="{E8D4FAEF-F066-330B-A7B3-088F59B994BD}"/>
              </a:ext>
            </a:extLst>
          </p:cNvPr>
          <p:cNvSpPr txBox="1"/>
          <p:nvPr/>
        </p:nvSpPr>
        <p:spPr>
          <a:xfrm>
            <a:off x="253042" y="641231"/>
            <a:ext cx="11829689" cy="17595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lnSpc>
                <a:spcPct val="150000"/>
              </a:lnSpc>
            </a:pPr>
            <a:r>
              <a:rPr lang="en-US" sz="2000" b="1" dirty="0">
                <a:latin typeface="Book Antiqua"/>
                <a:cs typeface="Arial"/>
              </a:rPr>
              <a:t>Crime Rate Per 100,000 vs. </a:t>
            </a:r>
            <a:r>
              <a:rPr lang="en-US" sz="2000" b="1" dirty="0" err="1">
                <a:latin typeface="Book Antiqua"/>
                <a:cs typeface="Arial"/>
              </a:rPr>
              <a:t>Neighbourhood</a:t>
            </a:r>
            <a:r>
              <a:rPr lang="en-US" sz="2000" b="1" dirty="0">
                <a:latin typeface="Book Antiqua"/>
                <a:cs typeface="Arial"/>
              </a:rPr>
              <a:t> Population 2024</a:t>
            </a:r>
            <a:endParaRPr lang="en-US" sz="2000" dirty="0">
              <a:latin typeface="Book Antiqua"/>
              <a:cs typeface="Arial"/>
            </a:endParaRPr>
          </a:p>
          <a:p>
            <a:pPr>
              <a:lnSpc>
                <a:spcPct val="150000"/>
              </a:lnSpc>
            </a:pPr>
            <a:r>
              <a:rPr lang="en-US" dirty="0">
                <a:latin typeface="Book Antiqua"/>
                <a:cs typeface="Arial"/>
              </a:rPr>
              <a:t>To understanding the impact of crime on local communities, I analyzed the 2024 crime counts relative to the 2024 population in each </a:t>
            </a:r>
            <a:r>
              <a:rPr lang="en-US" dirty="0" err="1">
                <a:latin typeface="Book Antiqua"/>
                <a:cs typeface="Arial"/>
              </a:rPr>
              <a:t>neighbourhood</a:t>
            </a:r>
            <a:r>
              <a:rPr lang="en-US" dirty="0">
                <a:latin typeface="Book Antiqua"/>
                <a:cs typeface="Arial"/>
              </a:rPr>
              <a:t>. By normalizing the data, we calculated the number of crimes per 100,000 residents. This gives a clearer “per person” view of the problem, rather than relying solely on absolute numbers.</a:t>
            </a:r>
            <a:endParaRPr lang="en-US" dirty="0">
              <a:latin typeface="Book Antiqua"/>
            </a:endParaRPr>
          </a:p>
        </p:txBody>
      </p:sp>
      <p:graphicFrame>
        <p:nvGraphicFramePr>
          <p:cNvPr id="4" name="Table 3">
            <a:extLst>
              <a:ext uri="{FF2B5EF4-FFF2-40B4-BE49-F238E27FC236}">
                <a16:creationId xmlns:a16="http://schemas.microsoft.com/office/drawing/2014/main" id="{58187645-6324-13C7-796F-7D749BF7D5CE}"/>
              </a:ext>
            </a:extLst>
          </p:cNvPr>
          <p:cNvGraphicFramePr>
            <a:graphicFrameLocks noGrp="1"/>
          </p:cNvGraphicFramePr>
          <p:nvPr>
            <p:extLst>
              <p:ext uri="{D42A27DB-BD31-4B8C-83A1-F6EECF244321}">
                <p14:modId xmlns:p14="http://schemas.microsoft.com/office/powerpoint/2010/main" val="1304225874"/>
              </p:ext>
            </p:extLst>
          </p:nvPr>
        </p:nvGraphicFramePr>
        <p:xfrm>
          <a:off x="100641" y="2602301"/>
          <a:ext cx="12023565" cy="3773748"/>
        </p:xfrm>
        <a:graphic>
          <a:graphicData uri="http://schemas.openxmlformats.org/drawingml/2006/table">
            <a:tbl>
              <a:tblPr firstRow="1" bandRow="1">
                <a:tableStyleId>{5940675A-B579-460E-94D1-54222C63F5DA}</a:tableStyleId>
              </a:tblPr>
              <a:tblGrid>
                <a:gridCol w="2467556">
                  <a:extLst>
                    <a:ext uri="{9D8B030D-6E8A-4147-A177-3AD203B41FA5}">
                      <a16:colId xmlns:a16="http://schemas.microsoft.com/office/drawing/2014/main" val="253354997"/>
                    </a:ext>
                  </a:extLst>
                </a:gridCol>
                <a:gridCol w="2386915">
                  <a:extLst>
                    <a:ext uri="{9D8B030D-6E8A-4147-A177-3AD203B41FA5}">
                      <a16:colId xmlns:a16="http://schemas.microsoft.com/office/drawing/2014/main" val="1849757126"/>
                    </a:ext>
                  </a:extLst>
                </a:gridCol>
                <a:gridCol w="2359668">
                  <a:extLst>
                    <a:ext uri="{9D8B030D-6E8A-4147-A177-3AD203B41FA5}">
                      <a16:colId xmlns:a16="http://schemas.microsoft.com/office/drawing/2014/main" val="3609122160"/>
                    </a:ext>
                  </a:extLst>
                </a:gridCol>
                <a:gridCol w="2404713">
                  <a:extLst>
                    <a:ext uri="{9D8B030D-6E8A-4147-A177-3AD203B41FA5}">
                      <a16:colId xmlns:a16="http://schemas.microsoft.com/office/drawing/2014/main" val="4146655382"/>
                    </a:ext>
                  </a:extLst>
                </a:gridCol>
                <a:gridCol w="2404713">
                  <a:extLst>
                    <a:ext uri="{9D8B030D-6E8A-4147-A177-3AD203B41FA5}">
                      <a16:colId xmlns:a16="http://schemas.microsoft.com/office/drawing/2014/main" val="2268808540"/>
                    </a:ext>
                  </a:extLst>
                </a:gridCol>
              </a:tblGrid>
              <a:tr h="1309687">
                <a:tc>
                  <a:txBody>
                    <a:bodyPr/>
                    <a:lstStyle/>
                    <a:p>
                      <a:pPr marL="0" lvl="0" indent="0" algn="ctr">
                        <a:lnSpc>
                          <a:spcPct val="150000"/>
                        </a:lnSpc>
                        <a:buNone/>
                      </a:pPr>
                      <a:r>
                        <a:rPr lang="en-US" sz="1800" b="1" i="0" u="none" strike="noStrike" noProof="0" dirty="0">
                          <a:solidFill>
                            <a:schemeClr val="bg1"/>
                          </a:solidFill>
                          <a:latin typeface="Book Antiqua"/>
                        </a:rPr>
                        <a:t>Waterfront Communities-The Island:</a:t>
                      </a:r>
                      <a:endParaRPr lang="en-US" sz="1800" dirty="0">
                        <a:solidFill>
                          <a:schemeClr val="bg1"/>
                        </a:solidFill>
                        <a:latin typeface="Book Antiqua"/>
                      </a:endParaRPr>
                    </a:p>
                  </a:txBody>
                  <a:tcPr>
                    <a:solidFill>
                      <a:srgbClr val="076FB0"/>
                    </a:solidFill>
                  </a:tcPr>
                </a:tc>
                <a:tc>
                  <a:txBody>
                    <a:bodyPr/>
                    <a:lstStyle/>
                    <a:p>
                      <a:pPr marL="0" lvl="0" indent="0" algn="ctr">
                        <a:lnSpc>
                          <a:spcPct val="150000"/>
                        </a:lnSpc>
                        <a:buNone/>
                      </a:pPr>
                      <a:r>
                        <a:rPr lang="en-US" sz="1800" b="1" i="0" u="none" strike="noStrike" noProof="0" dirty="0">
                          <a:solidFill>
                            <a:schemeClr val="bg1"/>
                          </a:solidFill>
                          <a:latin typeface="Book Antiqua"/>
                        </a:rPr>
                        <a:t>Church-Yonge Corridor:</a:t>
                      </a:r>
                    </a:p>
                  </a:txBody>
                  <a:tcPr>
                    <a:solidFill>
                      <a:srgbClr val="076FB0"/>
                    </a:solidFill>
                  </a:tcPr>
                </a:tc>
                <a:tc>
                  <a:txBody>
                    <a:bodyPr/>
                    <a:lstStyle/>
                    <a:p>
                      <a:pPr marL="0" lvl="0" indent="0" algn="ctr">
                        <a:lnSpc>
                          <a:spcPct val="150000"/>
                        </a:lnSpc>
                        <a:buNone/>
                      </a:pPr>
                      <a:r>
                        <a:rPr lang="en-US" sz="1800" b="1" i="0" u="none" strike="noStrike" noProof="0" dirty="0">
                          <a:solidFill>
                            <a:schemeClr val="bg1"/>
                          </a:solidFill>
                          <a:latin typeface="Book Antiqua"/>
                        </a:rPr>
                        <a:t>West Humber-</a:t>
                      </a:r>
                      <a:r>
                        <a:rPr lang="en-US" sz="1800" b="1" i="0" u="none" strike="noStrike" noProof="0" dirty="0" err="1">
                          <a:solidFill>
                            <a:schemeClr val="bg1"/>
                          </a:solidFill>
                          <a:latin typeface="Book Antiqua"/>
                        </a:rPr>
                        <a:t>Clairville</a:t>
                      </a:r>
                      <a:r>
                        <a:rPr lang="en-US" sz="1800" b="1" i="0" u="none" strike="noStrike" noProof="0" dirty="0">
                          <a:solidFill>
                            <a:schemeClr val="bg1"/>
                          </a:solidFill>
                          <a:latin typeface="Book Antiqua"/>
                        </a:rPr>
                        <a:t>:</a:t>
                      </a:r>
                      <a:endParaRPr lang="en-US" sz="1800" dirty="0">
                        <a:solidFill>
                          <a:schemeClr val="bg1"/>
                        </a:solidFill>
                        <a:latin typeface="Book Antiqua"/>
                      </a:endParaRPr>
                    </a:p>
                  </a:txBody>
                  <a:tcPr>
                    <a:solidFill>
                      <a:srgbClr val="076FB0"/>
                    </a:solidFill>
                  </a:tcPr>
                </a:tc>
                <a:tc>
                  <a:txBody>
                    <a:bodyPr/>
                    <a:lstStyle/>
                    <a:p>
                      <a:pPr marL="0" lvl="0" indent="0" algn="ctr">
                        <a:lnSpc>
                          <a:spcPct val="150000"/>
                        </a:lnSpc>
                        <a:buNone/>
                      </a:pPr>
                      <a:r>
                        <a:rPr lang="en-US" sz="1800" b="1" i="0" u="none" strike="noStrike" noProof="0" dirty="0">
                          <a:solidFill>
                            <a:schemeClr val="bg1"/>
                          </a:solidFill>
                          <a:latin typeface="Book Antiqua"/>
                        </a:rPr>
                        <a:t>Bay Street Corridor:</a:t>
                      </a:r>
                      <a:endParaRPr lang="en-US" sz="1800" dirty="0">
                        <a:solidFill>
                          <a:schemeClr val="bg1"/>
                        </a:solidFill>
                        <a:latin typeface="Book Antiqua"/>
                      </a:endParaRPr>
                    </a:p>
                  </a:txBody>
                  <a:tcPr>
                    <a:solidFill>
                      <a:srgbClr val="076FB0"/>
                    </a:solidFill>
                  </a:tcPr>
                </a:tc>
                <a:tc>
                  <a:txBody>
                    <a:bodyPr/>
                    <a:lstStyle/>
                    <a:p>
                      <a:pPr marL="0" lvl="0" indent="0" algn="ctr">
                        <a:lnSpc>
                          <a:spcPct val="150000"/>
                        </a:lnSpc>
                        <a:buNone/>
                      </a:pPr>
                      <a:r>
                        <a:rPr lang="en-US" sz="1800" b="1" i="0" u="none" strike="noStrike" noProof="0" dirty="0">
                          <a:solidFill>
                            <a:schemeClr val="bg1"/>
                          </a:solidFill>
                          <a:latin typeface="Book Antiqua"/>
                        </a:rPr>
                        <a:t>Moss Park:</a:t>
                      </a:r>
                      <a:br>
                        <a:rPr lang="en-US" sz="1800" b="1" i="0" u="none" strike="noStrike" noProof="0" dirty="0">
                          <a:solidFill>
                            <a:srgbClr val="FFFFFF"/>
                          </a:solidFill>
                          <a:latin typeface="Book Antiqua"/>
                        </a:rPr>
                      </a:br>
                      <a:endParaRPr lang="en-US" sz="1800" b="1" i="0" u="none" strike="noStrike" noProof="0">
                        <a:solidFill>
                          <a:srgbClr val="FFFFFF"/>
                        </a:solidFill>
                        <a:latin typeface="Book Antiqua"/>
                      </a:endParaRPr>
                    </a:p>
                  </a:txBody>
                  <a:tcPr>
                    <a:solidFill>
                      <a:srgbClr val="076FB0"/>
                    </a:solidFill>
                  </a:tcPr>
                </a:tc>
                <a:extLst>
                  <a:ext uri="{0D108BD9-81ED-4DB2-BD59-A6C34878D82A}">
                    <a16:rowId xmlns:a16="http://schemas.microsoft.com/office/drawing/2014/main" val="1842635933"/>
                  </a:ext>
                </a:extLst>
              </a:tr>
              <a:tr h="2464061">
                <a:tc>
                  <a:txBody>
                    <a:bodyPr/>
                    <a:lstStyle/>
                    <a:p>
                      <a:pPr marL="285750" lvl="0" indent="-285750" algn="l">
                        <a:lnSpc>
                          <a:spcPct val="150000"/>
                        </a:lnSpc>
                        <a:spcBef>
                          <a:spcPts val="0"/>
                        </a:spcBef>
                        <a:spcAft>
                          <a:spcPts val="0"/>
                        </a:spcAft>
                        <a:buFont typeface="Arial"/>
                        <a:buChar char="•"/>
                      </a:pPr>
                      <a:r>
                        <a:rPr lang="en-US" sz="1600" b="0" i="0" u="none" strike="noStrike" noProof="0" dirty="0">
                          <a:solidFill>
                            <a:srgbClr val="000000"/>
                          </a:solidFill>
                          <a:latin typeface="Book Antiqua"/>
                        </a:rPr>
                        <a:t>Crime Count = 1,812</a:t>
                      </a:r>
                    </a:p>
                    <a:p>
                      <a:pPr marL="285750" lvl="0" indent="-285750" algn="l">
                        <a:lnSpc>
                          <a:spcPct val="150000"/>
                        </a:lnSpc>
                        <a:spcBef>
                          <a:spcPts val="0"/>
                        </a:spcBef>
                        <a:spcAft>
                          <a:spcPts val="0"/>
                        </a:spcAft>
                        <a:buFont typeface="Arial"/>
                        <a:buChar char="•"/>
                      </a:pPr>
                      <a:r>
                        <a:rPr lang="en-US" sz="1600" b="0" i="0" u="none" strike="noStrike" noProof="0" dirty="0">
                          <a:solidFill>
                            <a:srgbClr val="000000"/>
                          </a:solidFill>
                          <a:latin typeface="Book Antiqua"/>
                        </a:rPr>
                        <a:t>Population = 65,900</a:t>
                      </a:r>
                    </a:p>
                    <a:p>
                      <a:pPr marL="285750" lvl="0" indent="-285750" algn="l">
                        <a:lnSpc>
                          <a:spcPct val="150000"/>
                        </a:lnSpc>
                        <a:spcBef>
                          <a:spcPts val="0"/>
                        </a:spcBef>
                        <a:spcAft>
                          <a:spcPts val="0"/>
                        </a:spcAft>
                        <a:buFont typeface="Arial"/>
                        <a:buChar char="•"/>
                      </a:pPr>
                      <a:r>
                        <a:rPr lang="en-US" sz="1600" b="0" i="0" u="none" strike="noStrike" noProof="0" dirty="0">
                          <a:solidFill>
                            <a:srgbClr val="000000"/>
                          </a:solidFill>
                          <a:latin typeface="Book Antiqua"/>
                        </a:rPr>
                        <a:t>Crime Rate = (1,812 / 65,900) × 100,000</a:t>
                      </a:r>
                    </a:p>
                    <a:p>
                      <a:pPr marL="0" lvl="0" indent="0" algn="l">
                        <a:lnSpc>
                          <a:spcPct val="150000"/>
                        </a:lnSpc>
                        <a:spcBef>
                          <a:spcPts val="0"/>
                        </a:spcBef>
                        <a:spcAft>
                          <a:spcPts val="0"/>
                        </a:spcAft>
                        <a:buNone/>
                      </a:pPr>
                      <a:r>
                        <a:rPr lang="en-US" sz="1800" b="1" i="0" u="none" strike="noStrike" noProof="0" dirty="0">
                          <a:solidFill>
                            <a:srgbClr val="000000"/>
                          </a:solidFill>
                          <a:latin typeface="Book Antiqua"/>
                        </a:rPr>
                        <a:t>Crime Rate ≈ 2,751.70 crimes per 100,000</a:t>
                      </a:r>
                      <a:endParaRPr lang="en-US" sz="1800" dirty="0">
                        <a:latin typeface="Book Antiqua"/>
                      </a:endParaRPr>
                    </a:p>
                  </a:txBody>
                  <a:tcPr/>
                </a:tc>
                <a:tc>
                  <a:txBody>
                    <a:bodyPr/>
                    <a:lstStyle/>
                    <a:p>
                      <a:pPr marL="285750" lvl="0" indent="-285750" algn="l">
                        <a:lnSpc>
                          <a:spcPct val="150000"/>
                        </a:lnSpc>
                        <a:spcBef>
                          <a:spcPts val="0"/>
                        </a:spcBef>
                        <a:spcAft>
                          <a:spcPts val="0"/>
                        </a:spcAft>
                        <a:buFont typeface="Arial"/>
                        <a:buChar char="•"/>
                      </a:pPr>
                      <a:r>
                        <a:rPr lang="en-US" sz="1600" b="0" i="0" u="none" strike="noStrike" noProof="0" dirty="0">
                          <a:solidFill>
                            <a:srgbClr val="000000"/>
                          </a:solidFill>
                          <a:latin typeface="Book Antiqua"/>
                        </a:rPr>
                        <a:t>Crime Count = 1,412</a:t>
                      </a:r>
                    </a:p>
                    <a:p>
                      <a:pPr marL="285750" lvl="0" indent="-285750" algn="l">
                        <a:lnSpc>
                          <a:spcPct val="150000"/>
                        </a:lnSpc>
                        <a:spcBef>
                          <a:spcPts val="0"/>
                        </a:spcBef>
                        <a:spcAft>
                          <a:spcPts val="0"/>
                        </a:spcAft>
                        <a:buFont typeface="Arial"/>
                        <a:buChar char="•"/>
                      </a:pPr>
                      <a:r>
                        <a:rPr lang="en-US" sz="1600" b="0" i="0" u="none" strike="noStrike" noProof="0" dirty="0">
                          <a:solidFill>
                            <a:srgbClr val="000000"/>
                          </a:solidFill>
                          <a:latin typeface="Book Antiqua"/>
                        </a:rPr>
                        <a:t>Population = 31,340</a:t>
                      </a:r>
                    </a:p>
                    <a:p>
                      <a:pPr marL="285750" lvl="0" indent="-285750" algn="l">
                        <a:lnSpc>
                          <a:spcPct val="150000"/>
                        </a:lnSpc>
                        <a:spcBef>
                          <a:spcPts val="0"/>
                        </a:spcBef>
                        <a:spcAft>
                          <a:spcPts val="0"/>
                        </a:spcAft>
                        <a:buFont typeface="Arial"/>
                        <a:buChar char="•"/>
                      </a:pPr>
                      <a:r>
                        <a:rPr lang="en-US" sz="1600" b="0" i="0" u="none" strike="noStrike" noProof="0" dirty="0">
                          <a:solidFill>
                            <a:srgbClr val="000000"/>
                          </a:solidFill>
                          <a:latin typeface="Book Antiqua"/>
                        </a:rPr>
                        <a:t>Crime Rate = (1,412 / 31,340) × 100,000</a:t>
                      </a:r>
                    </a:p>
                    <a:p>
                      <a:pPr marL="0" lvl="0" indent="0" algn="l">
                        <a:lnSpc>
                          <a:spcPct val="150000"/>
                        </a:lnSpc>
                        <a:spcBef>
                          <a:spcPts val="0"/>
                        </a:spcBef>
                        <a:spcAft>
                          <a:spcPts val="0"/>
                        </a:spcAft>
                        <a:buNone/>
                      </a:pPr>
                      <a:r>
                        <a:rPr lang="en-US" sz="1800" b="1" i="0" u="none" strike="noStrike" noProof="0" dirty="0">
                          <a:solidFill>
                            <a:srgbClr val="000000"/>
                          </a:solidFill>
                          <a:latin typeface="Book Antiqua"/>
                        </a:rPr>
                        <a:t>Crime Rate ≈ 4,506.43 crimes</a:t>
                      </a:r>
                    </a:p>
                  </a:txBody>
                  <a:tcPr/>
                </a:tc>
                <a:tc>
                  <a:txBody>
                    <a:bodyPr/>
                    <a:lstStyle/>
                    <a:p>
                      <a:pPr marL="285750" lvl="0" indent="-285750" algn="l">
                        <a:lnSpc>
                          <a:spcPct val="150000"/>
                        </a:lnSpc>
                        <a:spcBef>
                          <a:spcPts val="0"/>
                        </a:spcBef>
                        <a:spcAft>
                          <a:spcPts val="0"/>
                        </a:spcAft>
                        <a:buFont typeface="Arial"/>
                        <a:buChar char="•"/>
                      </a:pPr>
                      <a:r>
                        <a:rPr lang="en-US" sz="1600" b="0" i="0" u="none" strike="noStrike" noProof="0" dirty="0">
                          <a:solidFill>
                            <a:srgbClr val="000000"/>
                          </a:solidFill>
                          <a:latin typeface="Book Antiqua"/>
                        </a:rPr>
                        <a:t>Crime Count = 1,286</a:t>
                      </a:r>
                    </a:p>
                    <a:p>
                      <a:pPr marL="285750" lvl="0" indent="-285750" algn="l">
                        <a:lnSpc>
                          <a:spcPct val="150000"/>
                        </a:lnSpc>
                        <a:spcBef>
                          <a:spcPts val="0"/>
                        </a:spcBef>
                        <a:spcAft>
                          <a:spcPts val="0"/>
                        </a:spcAft>
                        <a:buFont typeface="Arial"/>
                        <a:buChar char="•"/>
                      </a:pPr>
                      <a:r>
                        <a:rPr lang="en-US" sz="1600" b="0" i="0" u="none" strike="noStrike" noProof="0" dirty="0">
                          <a:solidFill>
                            <a:srgbClr val="000000"/>
                          </a:solidFill>
                          <a:latin typeface="Book Antiqua"/>
                        </a:rPr>
                        <a:t>Population = 33,310</a:t>
                      </a:r>
                    </a:p>
                    <a:p>
                      <a:pPr marL="285750" lvl="0" indent="-285750" algn="l">
                        <a:lnSpc>
                          <a:spcPct val="150000"/>
                        </a:lnSpc>
                        <a:spcBef>
                          <a:spcPts val="0"/>
                        </a:spcBef>
                        <a:spcAft>
                          <a:spcPts val="0"/>
                        </a:spcAft>
                        <a:buFont typeface="Arial"/>
                        <a:buChar char="•"/>
                      </a:pPr>
                      <a:r>
                        <a:rPr lang="en-US" sz="1600" b="0" i="0" u="none" strike="noStrike" noProof="0" dirty="0">
                          <a:solidFill>
                            <a:srgbClr val="000000"/>
                          </a:solidFill>
                          <a:latin typeface="Book Antiqua"/>
                        </a:rPr>
                        <a:t>Crime Rate = (1,286 / 33,310) × 100,000</a:t>
                      </a:r>
                    </a:p>
                    <a:p>
                      <a:pPr marL="0" lvl="0" indent="0" algn="l">
                        <a:lnSpc>
                          <a:spcPct val="150000"/>
                        </a:lnSpc>
                        <a:spcBef>
                          <a:spcPts val="0"/>
                        </a:spcBef>
                        <a:spcAft>
                          <a:spcPts val="0"/>
                        </a:spcAft>
                        <a:buNone/>
                      </a:pPr>
                      <a:r>
                        <a:rPr lang="en-US" sz="1800" b="1" i="0" u="none" strike="noStrike" noProof="0" dirty="0">
                          <a:solidFill>
                            <a:srgbClr val="000000"/>
                          </a:solidFill>
                          <a:latin typeface="Book Antiqua"/>
                        </a:rPr>
                        <a:t>Crime Rate ≈ 3,860.00 crimes</a:t>
                      </a:r>
                    </a:p>
                  </a:txBody>
                  <a:tcPr/>
                </a:tc>
                <a:tc>
                  <a:txBody>
                    <a:bodyPr/>
                    <a:lstStyle/>
                    <a:p>
                      <a:pPr marL="285750" lvl="0" indent="-285750" algn="l">
                        <a:lnSpc>
                          <a:spcPct val="150000"/>
                        </a:lnSpc>
                        <a:spcBef>
                          <a:spcPts val="0"/>
                        </a:spcBef>
                        <a:spcAft>
                          <a:spcPts val="0"/>
                        </a:spcAft>
                        <a:buFont typeface="Arial"/>
                        <a:buChar char="•"/>
                      </a:pPr>
                      <a:r>
                        <a:rPr lang="en-US" sz="1600" b="0" i="0" u="none" strike="noStrike" noProof="0" dirty="0">
                          <a:solidFill>
                            <a:srgbClr val="000000"/>
                          </a:solidFill>
                          <a:latin typeface="Book Antiqua"/>
                        </a:rPr>
                        <a:t>Crime Count = 1,043</a:t>
                      </a:r>
                    </a:p>
                    <a:p>
                      <a:pPr marL="285750" lvl="0" indent="-285750" algn="l">
                        <a:lnSpc>
                          <a:spcPct val="150000"/>
                        </a:lnSpc>
                        <a:spcBef>
                          <a:spcPts val="0"/>
                        </a:spcBef>
                        <a:spcAft>
                          <a:spcPts val="0"/>
                        </a:spcAft>
                        <a:buFont typeface="Arial"/>
                        <a:buChar char="•"/>
                      </a:pPr>
                      <a:r>
                        <a:rPr lang="en-US" sz="1600" b="0" i="0" u="none" strike="noStrike" noProof="0" dirty="0">
                          <a:solidFill>
                            <a:srgbClr val="000000"/>
                          </a:solidFill>
                          <a:latin typeface="Book Antiqua"/>
                        </a:rPr>
                        <a:t>Population = 25,800</a:t>
                      </a:r>
                    </a:p>
                    <a:p>
                      <a:pPr marL="285750" lvl="0" indent="-285750" algn="l">
                        <a:lnSpc>
                          <a:spcPct val="150000"/>
                        </a:lnSpc>
                        <a:spcBef>
                          <a:spcPts val="0"/>
                        </a:spcBef>
                        <a:spcAft>
                          <a:spcPts val="0"/>
                        </a:spcAft>
                        <a:buFont typeface="Arial"/>
                        <a:buChar char="•"/>
                      </a:pPr>
                      <a:r>
                        <a:rPr lang="en-US" sz="1600" b="0" i="0" u="none" strike="noStrike" noProof="0" dirty="0">
                          <a:solidFill>
                            <a:srgbClr val="000000"/>
                          </a:solidFill>
                          <a:latin typeface="Book Antiqua"/>
                        </a:rPr>
                        <a:t>Crime Rate = (1,043 / 25,800) × 100,000</a:t>
                      </a:r>
                    </a:p>
                    <a:p>
                      <a:pPr marL="0" lvl="0" indent="0">
                        <a:lnSpc>
                          <a:spcPct val="150000"/>
                        </a:lnSpc>
                        <a:buNone/>
                      </a:pPr>
                      <a:r>
                        <a:rPr lang="en-US" sz="1800" b="1" i="0" u="none" strike="noStrike" noProof="0" dirty="0">
                          <a:solidFill>
                            <a:srgbClr val="000000"/>
                          </a:solidFill>
                          <a:latin typeface="Book Antiqua"/>
                        </a:rPr>
                        <a:t>Crime Rate ≈ 4,039.53 crimes</a:t>
                      </a:r>
                    </a:p>
                  </a:txBody>
                  <a:tcPr/>
                </a:tc>
                <a:tc>
                  <a:txBody>
                    <a:bodyPr/>
                    <a:lstStyle/>
                    <a:p>
                      <a:pPr marL="285750" lvl="0" indent="-285750" algn="l">
                        <a:lnSpc>
                          <a:spcPct val="150000"/>
                        </a:lnSpc>
                        <a:spcBef>
                          <a:spcPts val="0"/>
                        </a:spcBef>
                        <a:spcAft>
                          <a:spcPts val="0"/>
                        </a:spcAft>
                        <a:buFont typeface="Arial"/>
                        <a:buChar char="•"/>
                      </a:pPr>
                      <a:r>
                        <a:rPr lang="en-US" sz="1600" b="0" i="0" u="none" strike="noStrike" noProof="0" dirty="0">
                          <a:solidFill>
                            <a:srgbClr val="000000"/>
                          </a:solidFill>
                          <a:latin typeface="Book Antiqua"/>
                        </a:rPr>
                        <a:t>Crime Count = 849</a:t>
                      </a:r>
                    </a:p>
                    <a:p>
                      <a:pPr marL="285750" lvl="0" indent="-285750" algn="l">
                        <a:lnSpc>
                          <a:spcPct val="150000"/>
                        </a:lnSpc>
                        <a:spcBef>
                          <a:spcPts val="0"/>
                        </a:spcBef>
                        <a:spcAft>
                          <a:spcPts val="0"/>
                        </a:spcAft>
                        <a:buFont typeface="Arial"/>
                        <a:buChar char="•"/>
                      </a:pPr>
                      <a:r>
                        <a:rPr lang="en-US" sz="1600" b="0" i="0" u="none" strike="noStrike" noProof="0" dirty="0">
                          <a:solidFill>
                            <a:srgbClr val="000000"/>
                          </a:solidFill>
                          <a:latin typeface="Book Antiqua"/>
                        </a:rPr>
                        <a:t>Population = 20,500</a:t>
                      </a:r>
                    </a:p>
                    <a:p>
                      <a:pPr marL="285750" lvl="0" indent="-285750" algn="l">
                        <a:lnSpc>
                          <a:spcPct val="150000"/>
                        </a:lnSpc>
                        <a:spcBef>
                          <a:spcPts val="0"/>
                        </a:spcBef>
                        <a:spcAft>
                          <a:spcPts val="0"/>
                        </a:spcAft>
                        <a:buFont typeface="Arial"/>
                        <a:buChar char="•"/>
                      </a:pPr>
                      <a:r>
                        <a:rPr lang="en-US" sz="1600" b="0" i="0" u="none" strike="noStrike" noProof="0" dirty="0">
                          <a:solidFill>
                            <a:srgbClr val="000000"/>
                          </a:solidFill>
                          <a:latin typeface="Book Antiqua"/>
                        </a:rPr>
                        <a:t>Crime Rate = (849 / 20,500) × 100,000</a:t>
                      </a:r>
                    </a:p>
                    <a:p>
                      <a:pPr marL="0" lvl="0" indent="0" algn="l">
                        <a:lnSpc>
                          <a:spcPct val="150000"/>
                        </a:lnSpc>
                        <a:spcBef>
                          <a:spcPts val="0"/>
                        </a:spcBef>
                        <a:spcAft>
                          <a:spcPts val="0"/>
                        </a:spcAft>
                        <a:buNone/>
                      </a:pPr>
                      <a:r>
                        <a:rPr lang="en-US" sz="1800" b="1" i="0" u="none" strike="noStrike" noProof="0" dirty="0">
                          <a:solidFill>
                            <a:srgbClr val="000000"/>
                          </a:solidFill>
                          <a:latin typeface="Book Antiqua"/>
                        </a:rPr>
                        <a:t>Crime Rate ≈ 4,141.46 crimes </a:t>
                      </a:r>
                    </a:p>
                  </a:txBody>
                  <a:tcPr/>
                </a:tc>
                <a:extLst>
                  <a:ext uri="{0D108BD9-81ED-4DB2-BD59-A6C34878D82A}">
                    <a16:rowId xmlns:a16="http://schemas.microsoft.com/office/drawing/2014/main" val="261431784"/>
                  </a:ext>
                </a:extLst>
              </a:tr>
            </a:tbl>
          </a:graphicData>
        </a:graphic>
      </p:graphicFrame>
    </p:spTree>
    <p:extLst>
      <p:ext uri="{BB962C8B-B14F-4D97-AF65-F5344CB8AC3E}">
        <p14:creationId xmlns:p14="http://schemas.microsoft.com/office/powerpoint/2010/main" val="3596469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CF996-07B8-D0B4-3088-538B3D1B9187}"/>
            </a:ext>
          </a:extLst>
        </p:cNvPr>
        <p:cNvGrpSpPr/>
        <p:nvPr/>
      </p:nvGrpSpPr>
      <p:grpSpPr>
        <a:xfrm>
          <a:off x="0" y="0"/>
          <a:ext cx="0" cy="0"/>
          <a:chOff x="0" y="0"/>
          <a:chExt cx="0" cy="0"/>
        </a:xfrm>
      </p:grpSpPr>
      <p:pic>
        <p:nvPicPr>
          <p:cNvPr id="11" name="Picture 10" descr="A blue and green rectangle frame&#10;&#10;AI-generated content may be incorrect.">
            <a:extLst>
              <a:ext uri="{FF2B5EF4-FFF2-40B4-BE49-F238E27FC236}">
                <a16:creationId xmlns:a16="http://schemas.microsoft.com/office/drawing/2014/main" id="{580102F9-62BF-F808-A4CE-134DDB0A322D}"/>
              </a:ext>
            </a:extLst>
          </p:cNvPr>
          <p:cNvPicPr>
            <a:picLocks noChangeAspect="1"/>
          </p:cNvPicPr>
          <p:nvPr/>
        </p:nvPicPr>
        <p:blipFill>
          <a:blip r:embed="rId2"/>
          <a:srcRect l="24" t="90776" r="60" b="210"/>
          <a:stretch/>
        </p:blipFill>
        <p:spPr>
          <a:xfrm rot="-5400000">
            <a:off x="-3574388" y="3163847"/>
            <a:ext cx="7147341" cy="215183"/>
          </a:xfrm>
          <a:prstGeom prst="rect">
            <a:avLst/>
          </a:prstGeom>
        </p:spPr>
      </p:pic>
      <p:pic>
        <p:nvPicPr>
          <p:cNvPr id="12" name="Picture 11" descr="A blue and green rectangle frame&#10;&#10;AI-generated content may be incorrect.">
            <a:extLst>
              <a:ext uri="{FF2B5EF4-FFF2-40B4-BE49-F238E27FC236}">
                <a16:creationId xmlns:a16="http://schemas.microsoft.com/office/drawing/2014/main" id="{564DB2C6-491D-01AD-5E01-74E8627AA6F7}"/>
              </a:ext>
            </a:extLst>
          </p:cNvPr>
          <p:cNvPicPr>
            <a:picLocks noChangeAspect="1"/>
          </p:cNvPicPr>
          <p:nvPr/>
        </p:nvPicPr>
        <p:blipFill>
          <a:blip r:embed="rId2"/>
          <a:srcRect l="24" t="90776" r="60" b="210"/>
          <a:stretch/>
        </p:blipFill>
        <p:spPr>
          <a:xfrm rot="5400000">
            <a:off x="8589903" y="3219264"/>
            <a:ext cx="7147341" cy="215183"/>
          </a:xfrm>
          <a:prstGeom prst="rect">
            <a:avLst/>
          </a:prstGeom>
        </p:spPr>
      </p:pic>
      <p:pic>
        <p:nvPicPr>
          <p:cNvPr id="13" name="Picture 12" descr="A blue and green rectangle frame&#10;&#10;AI-generated content may be incorrect.">
            <a:extLst>
              <a:ext uri="{FF2B5EF4-FFF2-40B4-BE49-F238E27FC236}">
                <a16:creationId xmlns:a16="http://schemas.microsoft.com/office/drawing/2014/main" id="{D22E742E-97F1-6F77-94F4-87B11C5F5E74}"/>
              </a:ext>
            </a:extLst>
          </p:cNvPr>
          <p:cNvPicPr>
            <a:picLocks noChangeAspect="1"/>
          </p:cNvPicPr>
          <p:nvPr/>
        </p:nvPicPr>
        <p:blipFill>
          <a:blip r:embed="rId2"/>
          <a:srcRect l="24" t="90776" r="60" b="210"/>
          <a:stretch/>
        </p:blipFill>
        <p:spPr>
          <a:xfrm rot="10800000">
            <a:off x="-207732" y="-188952"/>
            <a:ext cx="12287377" cy="519981"/>
          </a:xfrm>
          <a:prstGeom prst="rect">
            <a:avLst/>
          </a:prstGeom>
        </p:spPr>
      </p:pic>
      <p:pic>
        <p:nvPicPr>
          <p:cNvPr id="9" name="Picture 8" descr="A blue and green rectangle frame&#10;&#10;AI-generated content may be incorrect.">
            <a:extLst>
              <a:ext uri="{FF2B5EF4-FFF2-40B4-BE49-F238E27FC236}">
                <a16:creationId xmlns:a16="http://schemas.microsoft.com/office/drawing/2014/main" id="{BE9614BF-5661-0E54-6895-7FE244C36142}"/>
              </a:ext>
            </a:extLst>
          </p:cNvPr>
          <p:cNvPicPr>
            <a:picLocks noChangeAspect="1"/>
          </p:cNvPicPr>
          <p:nvPr/>
        </p:nvPicPr>
        <p:blipFill>
          <a:blip r:embed="rId2"/>
          <a:srcRect l="24" t="90776" r="60" b="210"/>
          <a:stretch/>
        </p:blipFill>
        <p:spPr>
          <a:xfrm>
            <a:off x="-83041" y="6378102"/>
            <a:ext cx="12356649" cy="519983"/>
          </a:xfrm>
          <a:prstGeom prst="rect">
            <a:avLst/>
          </a:prstGeom>
        </p:spPr>
      </p:pic>
      <p:sp>
        <p:nvSpPr>
          <p:cNvPr id="15" name="TextBox 14">
            <a:extLst>
              <a:ext uri="{FF2B5EF4-FFF2-40B4-BE49-F238E27FC236}">
                <a16:creationId xmlns:a16="http://schemas.microsoft.com/office/drawing/2014/main" id="{BF4A2EF6-1ED7-BCA7-9D82-E79D8A1A58F7}"/>
              </a:ext>
            </a:extLst>
          </p:cNvPr>
          <p:cNvSpPr txBox="1"/>
          <p:nvPr/>
        </p:nvSpPr>
        <p:spPr>
          <a:xfrm>
            <a:off x="1639523" y="-6681"/>
            <a:ext cx="9021682" cy="400110"/>
          </a:xfrm>
          <a:prstGeom prst="rect">
            <a:avLst/>
          </a:prstGeom>
          <a:noFill/>
        </p:spPr>
        <p:txBody>
          <a:bodyPr wrap="square" lIns="91440" tIns="45720" rIns="91440" bIns="45720" rtlCol="0" anchor="t">
            <a:spAutoFit/>
          </a:bodyPr>
          <a:lstStyle/>
          <a:p>
            <a:pPr algn="ctr"/>
            <a:r>
              <a:rPr lang="en-CA" sz="2000" b="1" dirty="0">
                <a:solidFill>
                  <a:schemeClr val="bg1"/>
                </a:solidFill>
                <a:latin typeface="Book Antiqua"/>
              </a:rPr>
              <a:t>- 5  -</a:t>
            </a:r>
            <a:endParaRPr lang="en-CA" sz="2000" dirty="0">
              <a:solidFill>
                <a:schemeClr val="bg1"/>
              </a:solidFill>
              <a:latin typeface="Book Antiqua"/>
            </a:endParaRPr>
          </a:p>
        </p:txBody>
      </p:sp>
      <p:graphicFrame>
        <p:nvGraphicFramePr>
          <p:cNvPr id="4" name="Table 3">
            <a:extLst>
              <a:ext uri="{FF2B5EF4-FFF2-40B4-BE49-F238E27FC236}">
                <a16:creationId xmlns:a16="http://schemas.microsoft.com/office/drawing/2014/main" id="{430AE728-0134-2E75-B493-83ACBD05037C}"/>
              </a:ext>
            </a:extLst>
          </p:cNvPr>
          <p:cNvGraphicFramePr>
            <a:graphicFrameLocks noGrp="1"/>
          </p:cNvGraphicFramePr>
          <p:nvPr/>
        </p:nvGraphicFramePr>
        <p:xfrm>
          <a:off x="100641" y="3038500"/>
          <a:ext cx="11995814" cy="3322320"/>
        </p:xfrm>
        <a:graphic>
          <a:graphicData uri="http://schemas.openxmlformats.org/drawingml/2006/table">
            <a:tbl>
              <a:tblPr firstRow="1" bandRow="1">
                <a:tableStyleId>{5940675A-B579-460E-94D1-54222C63F5DA}</a:tableStyleId>
              </a:tblPr>
              <a:tblGrid>
                <a:gridCol w="2738436">
                  <a:extLst>
                    <a:ext uri="{9D8B030D-6E8A-4147-A177-3AD203B41FA5}">
                      <a16:colId xmlns:a16="http://schemas.microsoft.com/office/drawing/2014/main" val="2974130596"/>
                    </a:ext>
                  </a:extLst>
                </a:gridCol>
                <a:gridCol w="2398258">
                  <a:extLst>
                    <a:ext uri="{9D8B030D-6E8A-4147-A177-3AD203B41FA5}">
                      <a16:colId xmlns:a16="http://schemas.microsoft.com/office/drawing/2014/main" val="550699165"/>
                    </a:ext>
                  </a:extLst>
                </a:gridCol>
                <a:gridCol w="2052212">
                  <a:extLst>
                    <a:ext uri="{9D8B030D-6E8A-4147-A177-3AD203B41FA5}">
                      <a16:colId xmlns:a16="http://schemas.microsoft.com/office/drawing/2014/main" val="2844191973"/>
                    </a:ext>
                  </a:extLst>
                </a:gridCol>
                <a:gridCol w="2126116">
                  <a:extLst>
                    <a:ext uri="{9D8B030D-6E8A-4147-A177-3AD203B41FA5}">
                      <a16:colId xmlns:a16="http://schemas.microsoft.com/office/drawing/2014/main" val="3024103436"/>
                    </a:ext>
                  </a:extLst>
                </a:gridCol>
                <a:gridCol w="2680792">
                  <a:extLst>
                    <a:ext uri="{9D8B030D-6E8A-4147-A177-3AD203B41FA5}">
                      <a16:colId xmlns:a16="http://schemas.microsoft.com/office/drawing/2014/main" val="3693291132"/>
                    </a:ext>
                  </a:extLst>
                </a:gridCol>
              </a:tblGrid>
              <a:tr h="392205">
                <a:tc gridSpan="5">
                  <a:txBody>
                    <a:bodyPr/>
                    <a:lstStyle/>
                    <a:p>
                      <a:pPr lvl="0" algn="ctr">
                        <a:buNone/>
                      </a:pPr>
                      <a:r>
                        <a:rPr lang="en-US" sz="2000" b="1" i="0" u="none" strike="noStrike" noProof="0" dirty="0">
                          <a:solidFill>
                            <a:schemeClr val="bg1"/>
                          </a:solidFill>
                          <a:latin typeface="Book Antiqua"/>
                        </a:rPr>
                        <a:t>Interpretation of The Results (2024)</a:t>
                      </a:r>
                      <a:endParaRPr lang="en-US" sz="2000">
                        <a:solidFill>
                          <a:schemeClr val="bg1"/>
                        </a:solidFill>
                        <a:latin typeface="Book Antiqua"/>
                      </a:endParaRPr>
                    </a:p>
                  </a:txBody>
                  <a:tcPr>
                    <a:solidFill>
                      <a:srgbClr val="076FB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347440272"/>
                  </a:ext>
                </a:extLst>
              </a:tr>
              <a:tr h="925396">
                <a:tc>
                  <a:txBody>
                    <a:bodyPr/>
                    <a:lstStyle/>
                    <a:p>
                      <a:pPr lvl="0">
                        <a:buNone/>
                      </a:pPr>
                      <a:r>
                        <a:rPr lang="en-US" sz="1800" b="1" i="0" u="none" strike="noStrike" noProof="0" dirty="0">
                          <a:solidFill>
                            <a:schemeClr val="bg1"/>
                          </a:solidFill>
                          <a:latin typeface="Book Antiqua"/>
                        </a:rPr>
                        <a:t>Waterfront Communities-The Island:</a:t>
                      </a:r>
                      <a:r>
                        <a:rPr lang="en-US" sz="1800" b="0" i="0" u="none" strike="noStrike" noProof="0" dirty="0">
                          <a:solidFill>
                            <a:schemeClr val="bg1"/>
                          </a:solidFill>
                          <a:latin typeface="Book Antiqua"/>
                        </a:rPr>
                        <a:t> ~2,751.70 crimes per 100,000</a:t>
                      </a:r>
                      <a:endParaRPr lang="en-US" sz="1800" b="0" i="0" u="none" strike="noStrike" noProof="0">
                        <a:solidFill>
                          <a:srgbClr val="FFFFFF"/>
                        </a:solidFill>
                        <a:latin typeface="Book Antiqua"/>
                      </a:endParaRPr>
                    </a:p>
                  </a:txBody>
                  <a:tcPr>
                    <a:solidFill>
                      <a:srgbClr val="076FB0"/>
                    </a:solidFill>
                  </a:tcPr>
                </a:tc>
                <a:tc>
                  <a:txBody>
                    <a:bodyPr/>
                    <a:lstStyle/>
                    <a:p>
                      <a:pPr lvl="0">
                        <a:buNone/>
                      </a:pPr>
                      <a:r>
                        <a:rPr lang="en-US" sz="1800" b="1" i="0" u="none" strike="noStrike" noProof="0" dirty="0">
                          <a:solidFill>
                            <a:schemeClr val="bg1"/>
                          </a:solidFill>
                          <a:latin typeface="Book Antiqua"/>
                        </a:rPr>
                        <a:t>Church-Yonge Corridor:</a:t>
                      </a:r>
                      <a:r>
                        <a:rPr lang="en-US" sz="1800" b="0" i="0" u="none" strike="noStrike" noProof="0" dirty="0">
                          <a:solidFill>
                            <a:schemeClr val="bg1"/>
                          </a:solidFill>
                          <a:latin typeface="Book Antiqua"/>
                        </a:rPr>
                        <a:t> ~4,506.43 crimes per 100,000</a:t>
                      </a:r>
                      <a:endParaRPr lang="en-US" sz="1800">
                        <a:solidFill>
                          <a:schemeClr val="bg1"/>
                        </a:solidFill>
                        <a:latin typeface="Book Antiqua"/>
                      </a:endParaRPr>
                    </a:p>
                  </a:txBody>
                  <a:tcPr>
                    <a:solidFill>
                      <a:srgbClr val="076FB0"/>
                    </a:solidFill>
                  </a:tcPr>
                </a:tc>
                <a:tc>
                  <a:txBody>
                    <a:bodyPr/>
                    <a:lstStyle/>
                    <a:p>
                      <a:pPr lvl="0">
                        <a:buNone/>
                      </a:pPr>
                      <a:r>
                        <a:rPr lang="en-US" sz="1800" b="1" i="0" u="none" strike="noStrike" noProof="0" dirty="0">
                          <a:solidFill>
                            <a:schemeClr val="bg1"/>
                          </a:solidFill>
                          <a:latin typeface="Book Antiqua"/>
                        </a:rPr>
                        <a:t>West Humber-</a:t>
                      </a:r>
                      <a:r>
                        <a:rPr lang="en-US" sz="1800" b="1" i="0" u="none" strike="noStrike" noProof="0" err="1">
                          <a:solidFill>
                            <a:schemeClr val="bg1"/>
                          </a:solidFill>
                          <a:latin typeface="Book Antiqua"/>
                        </a:rPr>
                        <a:t>Clairville</a:t>
                      </a:r>
                      <a:r>
                        <a:rPr lang="en-US" sz="1800" b="1" i="0" u="none" strike="noStrike" noProof="0" dirty="0">
                          <a:solidFill>
                            <a:schemeClr val="bg1"/>
                          </a:solidFill>
                          <a:latin typeface="Book Antiqua"/>
                        </a:rPr>
                        <a:t>:</a:t>
                      </a:r>
                      <a:r>
                        <a:rPr lang="en-US" sz="1800" b="0" i="0" u="none" strike="noStrike" noProof="0" dirty="0">
                          <a:solidFill>
                            <a:schemeClr val="bg1"/>
                          </a:solidFill>
                          <a:latin typeface="Book Antiqua"/>
                        </a:rPr>
                        <a:t> ~3,860.00 crimes per 100,000</a:t>
                      </a:r>
                      <a:br>
                        <a:rPr lang="en-US" sz="1800" b="0" i="0" u="none" strike="noStrike" noProof="0" dirty="0">
                          <a:solidFill>
                            <a:srgbClr val="FFFFFF"/>
                          </a:solidFill>
                          <a:latin typeface="Book Antiqua"/>
                        </a:rPr>
                      </a:br>
                      <a:endParaRPr lang="en-US" sz="1800" b="0" i="0" u="none" strike="noStrike" noProof="0">
                        <a:solidFill>
                          <a:srgbClr val="FFFFFF"/>
                        </a:solidFill>
                        <a:latin typeface="Book Antiqua"/>
                      </a:endParaRPr>
                    </a:p>
                  </a:txBody>
                  <a:tcPr>
                    <a:solidFill>
                      <a:srgbClr val="076FB0"/>
                    </a:solidFill>
                  </a:tcPr>
                </a:tc>
                <a:tc>
                  <a:txBody>
                    <a:bodyPr/>
                    <a:lstStyle/>
                    <a:p>
                      <a:pPr lvl="0">
                        <a:buNone/>
                      </a:pPr>
                      <a:r>
                        <a:rPr lang="en-US" sz="1800" b="1" i="0" u="none" strike="noStrike" noProof="0" dirty="0">
                          <a:solidFill>
                            <a:schemeClr val="bg1"/>
                          </a:solidFill>
                          <a:latin typeface="Book Antiqua"/>
                        </a:rPr>
                        <a:t>Bay Street Corridor:</a:t>
                      </a:r>
                      <a:r>
                        <a:rPr lang="en-US" sz="1800" b="0" i="0" u="none" strike="noStrike" noProof="0" dirty="0">
                          <a:solidFill>
                            <a:schemeClr val="bg1"/>
                          </a:solidFill>
                          <a:latin typeface="Book Antiqua"/>
                        </a:rPr>
                        <a:t> ~4,039.53 crimes per 100,000</a:t>
                      </a:r>
                      <a:br>
                        <a:rPr lang="en-US" sz="1800" b="0" i="0" u="none" strike="noStrike" noProof="0" dirty="0">
                          <a:solidFill>
                            <a:srgbClr val="FFFFFF"/>
                          </a:solidFill>
                          <a:latin typeface="Book Antiqua"/>
                        </a:rPr>
                      </a:br>
                      <a:endParaRPr lang="en-US" sz="1800" b="0" i="0" u="none" strike="noStrike" noProof="0" dirty="0">
                        <a:solidFill>
                          <a:srgbClr val="FFFFFF"/>
                        </a:solidFill>
                        <a:latin typeface="Book Antiqua"/>
                      </a:endParaRPr>
                    </a:p>
                  </a:txBody>
                  <a:tcPr>
                    <a:solidFill>
                      <a:srgbClr val="076FB0"/>
                    </a:solidFill>
                  </a:tcPr>
                </a:tc>
                <a:tc>
                  <a:txBody>
                    <a:bodyPr/>
                    <a:lstStyle/>
                    <a:p>
                      <a:pPr lvl="0">
                        <a:buNone/>
                      </a:pPr>
                      <a:r>
                        <a:rPr lang="en-US" sz="1800" b="1" i="0" u="none" strike="noStrike" noProof="0" dirty="0">
                          <a:solidFill>
                            <a:schemeClr val="bg1"/>
                          </a:solidFill>
                          <a:latin typeface="Book Antiqua"/>
                        </a:rPr>
                        <a:t>Moss Park:</a:t>
                      </a:r>
                      <a:r>
                        <a:rPr lang="en-US" sz="1800" b="0" i="0" u="none" strike="noStrike" noProof="0" dirty="0">
                          <a:solidFill>
                            <a:schemeClr val="bg1"/>
                          </a:solidFill>
                          <a:latin typeface="Book Antiqua"/>
                        </a:rPr>
                        <a:t> ~4,141.46 crimes per 100,000</a:t>
                      </a:r>
                      <a:br>
                        <a:rPr lang="en-US" sz="1800" b="0" i="0" u="none" strike="noStrike" noProof="0" dirty="0">
                          <a:solidFill>
                            <a:srgbClr val="FFFFFF"/>
                          </a:solidFill>
                          <a:latin typeface="Book Antiqua"/>
                        </a:rPr>
                      </a:br>
                      <a:endParaRPr lang="en-US" sz="1800" b="0" i="0" u="none" strike="noStrike" noProof="0" dirty="0">
                        <a:solidFill>
                          <a:srgbClr val="FFFFFF"/>
                        </a:solidFill>
                        <a:latin typeface="Book Antiqua"/>
                      </a:endParaRPr>
                    </a:p>
                  </a:txBody>
                  <a:tcPr>
                    <a:solidFill>
                      <a:srgbClr val="076FB0"/>
                    </a:solidFill>
                  </a:tcPr>
                </a:tc>
                <a:extLst>
                  <a:ext uri="{0D108BD9-81ED-4DB2-BD59-A6C34878D82A}">
                    <a16:rowId xmlns:a16="http://schemas.microsoft.com/office/drawing/2014/main" val="1606850058"/>
                  </a:ext>
                </a:extLst>
              </a:tr>
              <a:tr h="925396">
                <a:tc>
                  <a:txBody>
                    <a:bodyPr/>
                    <a:lstStyle/>
                    <a:p>
                      <a:pPr lvl="0">
                        <a:buNone/>
                      </a:pPr>
                      <a:r>
                        <a:rPr lang="en-US" sz="1800" b="1" i="0" u="none" strike="noStrike" noProof="0" dirty="0">
                          <a:solidFill>
                            <a:srgbClr val="000000"/>
                          </a:solidFill>
                          <a:latin typeface="Book Antiqua"/>
                        </a:rPr>
                        <a:t>Interpretation:</a:t>
                      </a:r>
                      <a:r>
                        <a:rPr lang="en-US" sz="1800" b="0" i="0" u="none" strike="noStrike" noProof="0" dirty="0">
                          <a:solidFill>
                            <a:srgbClr val="000000"/>
                          </a:solidFill>
                          <a:latin typeface="Book Antiqua"/>
                        </a:rPr>
                        <a:t> Way below the 4,000 benchmark, has a relatively lower risk on a per capita basis.</a:t>
                      </a:r>
                      <a:endParaRPr lang="en-US" sz="1800">
                        <a:latin typeface="Book Antiqua"/>
                      </a:endParaRPr>
                    </a:p>
                  </a:txBody>
                  <a:tcPr/>
                </a:tc>
                <a:tc>
                  <a:txBody>
                    <a:bodyPr/>
                    <a:lstStyle/>
                    <a:p>
                      <a:pPr lvl="0">
                        <a:buNone/>
                      </a:pPr>
                      <a:r>
                        <a:rPr lang="en-US" sz="1800" b="1" i="0" u="none" strike="noStrike" noProof="0" dirty="0">
                          <a:solidFill>
                            <a:srgbClr val="000000"/>
                          </a:solidFill>
                          <a:latin typeface="Book Antiqua"/>
                        </a:rPr>
                        <a:t>Interpretation:</a:t>
                      </a:r>
                      <a:r>
                        <a:rPr lang="en-US" sz="1800" b="0" i="0" u="none" strike="noStrike" noProof="0" dirty="0">
                          <a:solidFill>
                            <a:srgbClr val="000000"/>
                          </a:solidFill>
                          <a:latin typeface="Book Antiqua"/>
                        </a:rPr>
                        <a:t> Exceeds the benchmark, highlighting it as a high-risk area.</a:t>
                      </a:r>
                    </a:p>
                  </a:txBody>
                  <a:tcPr/>
                </a:tc>
                <a:tc>
                  <a:txBody>
                    <a:bodyPr/>
                    <a:lstStyle/>
                    <a:p>
                      <a:pPr lvl="0">
                        <a:buNone/>
                      </a:pPr>
                      <a:r>
                        <a:rPr lang="en-US" sz="1800" b="1" i="0" u="none" strike="noStrike" noProof="0" dirty="0">
                          <a:solidFill>
                            <a:srgbClr val="000000"/>
                          </a:solidFill>
                          <a:latin typeface="Book Antiqua"/>
                        </a:rPr>
                        <a:t>Interpretation:</a:t>
                      </a:r>
                      <a:r>
                        <a:rPr lang="en-US" sz="1800" b="0" i="0" u="none" strike="noStrike" noProof="0" dirty="0">
                          <a:solidFill>
                            <a:srgbClr val="000000"/>
                          </a:solidFill>
                          <a:latin typeface="Book Antiqua"/>
                        </a:rPr>
                        <a:t> Just below the threshold but still  deserves attention.</a:t>
                      </a:r>
                    </a:p>
                  </a:txBody>
                  <a:tcPr/>
                </a:tc>
                <a:tc>
                  <a:txBody>
                    <a:bodyPr/>
                    <a:lstStyle/>
                    <a:p>
                      <a:pPr lvl="0">
                        <a:buNone/>
                      </a:pPr>
                      <a:r>
                        <a:rPr lang="en-US" sz="1800" b="1" i="0" u="none" strike="noStrike" noProof="0" dirty="0">
                          <a:solidFill>
                            <a:srgbClr val="000000"/>
                          </a:solidFill>
                          <a:latin typeface="Book Antiqua"/>
                        </a:rPr>
                        <a:t>Interpretation:</a:t>
                      </a:r>
                      <a:r>
                        <a:rPr lang="en-US" sz="1800" b="0" i="0" u="none" strike="noStrike" noProof="0" dirty="0">
                          <a:solidFill>
                            <a:srgbClr val="000000"/>
                          </a:solidFill>
                          <a:latin typeface="Book Antiqua"/>
                        </a:rPr>
                        <a:t> Slightly above the threshold, indicating elevated risk.</a:t>
                      </a:r>
                    </a:p>
                  </a:txBody>
                  <a:tcPr/>
                </a:tc>
                <a:tc>
                  <a:txBody>
                    <a:bodyPr/>
                    <a:lstStyle/>
                    <a:p>
                      <a:pPr lvl="0" algn="l">
                        <a:lnSpc>
                          <a:spcPct val="100000"/>
                        </a:lnSpc>
                        <a:spcBef>
                          <a:spcPts val="0"/>
                        </a:spcBef>
                        <a:spcAft>
                          <a:spcPts val="0"/>
                        </a:spcAft>
                        <a:buNone/>
                      </a:pPr>
                      <a:r>
                        <a:rPr lang="en-US" sz="1800" b="1" i="0" u="none" strike="noStrike" noProof="0" dirty="0">
                          <a:solidFill>
                            <a:srgbClr val="000000"/>
                          </a:solidFill>
                          <a:latin typeface="Book Antiqua"/>
                        </a:rPr>
                        <a:t>Interpretation:</a:t>
                      </a:r>
                      <a:r>
                        <a:rPr lang="en-US" sz="1800" b="0" i="0" u="none" strike="noStrike" noProof="0" dirty="0">
                          <a:solidFill>
                            <a:srgbClr val="000000"/>
                          </a:solidFill>
                          <a:latin typeface="Book Antiqua"/>
                        </a:rPr>
                        <a:t> Clearly above the benchmark, indicating an urgent need for targeted interventions.</a:t>
                      </a:r>
                      <a:endParaRPr lang="en-US" sz="1800">
                        <a:latin typeface="Book Antiqua"/>
                      </a:endParaRPr>
                    </a:p>
                  </a:txBody>
                  <a:tcPr/>
                </a:tc>
                <a:extLst>
                  <a:ext uri="{0D108BD9-81ED-4DB2-BD59-A6C34878D82A}">
                    <a16:rowId xmlns:a16="http://schemas.microsoft.com/office/drawing/2014/main" val="713235540"/>
                  </a:ext>
                </a:extLst>
              </a:tr>
            </a:tbl>
          </a:graphicData>
        </a:graphic>
      </p:graphicFrame>
      <p:sp>
        <p:nvSpPr>
          <p:cNvPr id="18" name="Rectangle 17">
            <a:extLst>
              <a:ext uri="{FF2B5EF4-FFF2-40B4-BE49-F238E27FC236}">
                <a16:creationId xmlns:a16="http://schemas.microsoft.com/office/drawing/2014/main" id="{7EABD866-5E4C-B640-592A-1932AE435B36}"/>
              </a:ext>
            </a:extLst>
          </p:cNvPr>
          <p:cNvSpPr/>
          <p:nvPr/>
        </p:nvSpPr>
        <p:spPr>
          <a:xfrm rot="13278271">
            <a:off x="-131127" y="-250176"/>
            <a:ext cx="628990" cy="1018566"/>
          </a:xfrm>
          <a:prstGeom prst="rect">
            <a:avLst/>
          </a:prstGeom>
          <a:solidFill>
            <a:srgbClr val="0E9C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Rectangle 18">
            <a:extLst>
              <a:ext uri="{FF2B5EF4-FFF2-40B4-BE49-F238E27FC236}">
                <a16:creationId xmlns:a16="http://schemas.microsoft.com/office/drawing/2014/main" id="{54A76F7A-9ACD-8CEE-4914-5EDF79D1EAA8}"/>
              </a:ext>
            </a:extLst>
          </p:cNvPr>
          <p:cNvSpPr/>
          <p:nvPr/>
        </p:nvSpPr>
        <p:spPr>
          <a:xfrm rot="7941075">
            <a:off x="11656797" y="-235521"/>
            <a:ext cx="628990" cy="1018566"/>
          </a:xfrm>
          <a:prstGeom prst="rect">
            <a:avLst/>
          </a:prstGeom>
          <a:solidFill>
            <a:srgbClr val="0DA1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TextBox 4">
            <a:extLst>
              <a:ext uri="{FF2B5EF4-FFF2-40B4-BE49-F238E27FC236}">
                <a16:creationId xmlns:a16="http://schemas.microsoft.com/office/drawing/2014/main" id="{05A86952-1B7D-3163-97CD-ADC110246003}"/>
              </a:ext>
            </a:extLst>
          </p:cNvPr>
          <p:cNvSpPr txBox="1"/>
          <p:nvPr/>
        </p:nvSpPr>
        <p:spPr>
          <a:xfrm>
            <a:off x="206829" y="628650"/>
            <a:ext cx="11764735" cy="21750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lnSpc>
                <a:spcPct val="150000"/>
              </a:lnSpc>
            </a:pPr>
            <a:r>
              <a:rPr lang="en-US" sz="2000" b="1" dirty="0">
                <a:latin typeface="Book Antiqua"/>
                <a:cs typeface="Arial"/>
              </a:rPr>
              <a:t>Defining High vs. Low Crime Rates</a:t>
            </a:r>
            <a:r>
              <a:rPr lang="en-US" sz="2000" dirty="0">
                <a:latin typeface="Book Antiqua"/>
                <a:cs typeface="Arial"/>
              </a:rPr>
              <a:t> </a:t>
            </a:r>
            <a:endParaRPr lang="en-US" sz="2000"/>
          </a:p>
          <a:p>
            <a:pPr>
              <a:lnSpc>
                <a:spcPct val="150000"/>
              </a:lnSpc>
            </a:pPr>
            <a:r>
              <a:rPr lang="en-US" dirty="0">
                <a:latin typeface="Book Antiqua"/>
                <a:cs typeface="Arial"/>
              </a:rPr>
              <a:t>In order to determine which areas urgently need for intervention, I compare the crime rates against a benchmark. For this analysis, we use 4,000 crimes per 100,000 residents as an initial benchmark. </a:t>
            </a:r>
            <a:r>
              <a:rPr lang="en-US" dirty="0" err="1">
                <a:latin typeface="Book Antiqua"/>
                <a:cs typeface="Arial"/>
              </a:rPr>
              <a:t>Neighbourhoods</a:t>
            </a:r>
            <a:r>
              <a:rPr lang="en-US" dirty="0">
                <a:latin typeface="Book Antiqua"/>
                <a:cs typeface="Arial"/>
              </a:rPr>
              <a:t> with crime rates above this threshold are considered to have high crime rates. Those below are categorized as moderate, though still requiring monitoring.</a:t>
            </a:r>
            <a:endParaRPr lang="en-US" dirty="0">
              <a:latin typeface="Book Antiqua"/>
            </a:endParaRPr>
          </a:p>
        </p:txBody>
      </p:sp>
    </p:spTree>
    <p:extLst>
      <p:ext uri="{BB962C8B-B14F-4D97-AF65-F5344CB8AC3E}">
        <p14:creationId xmlns:p14="http://schemas.microsoft.com/office/powerpoint/2010/main" val="586810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CB5E55-80BE-73A2-50BA-8A07F32F3EDA}"/>
            </a:ext>
          </a:extLst>
        </p:cNvPr>
        <p:cNvGrpSpPr/>
        <p:nvPr/>
      </p:nvGrpSpPr>
      <p:grpSpPr>
        <a:xfrm>
          <a:off x="0" y="0"/>
          <a:ext cx="0" cy="0"/>
          <a:chOff x="0" y="0"/>
          <a:chExt cx="0" cy="0"/>
        </a:xfrm>
      </p:grpSpPr>
      <p:pic>
        <p:nvPicPr>
          <p:cNvPr id="11" name="Picture 10" descr="A blue and green rectangle frame&#10;&#10;AI-generated content may be incorrect.">
            <a:extLst>
              <a:ext uri="{FF2B5EF4-FFF2-40B4-BE49-F238E27FC236}">
                <a16:creationId xmlns:a16="http://schemas.microsoft.com/office/drawing/2014/main" id="{DBC4743B-9EFE-181D-24D1-9674BCD698AF}"/>
              </a:ext>
            </a:extLst>
          </p:cNvPr>
          <p:cNvPicPr>
            <a:picLocks noChangeAspect="1"/>
          </p:cNvPicPr>
          <p:nvPr/>
        </p:nvPicPr>
        <p:blipFill>
          <a:blip r:embed="rId2"/>
          <a:srcRect l="24" t="90776" r="60" b="210"/>
          <a:stretch/>
        </p:blipFill>
        <p:spPr>
          <a:xfrm rot="-5400000">
            <a:off x="-3574388" y="3163847"/>
            <a:ext cx="7147341" cy="215183"/>
          </a:xfrm>
          <a:prstGeom prst="rect">
            <a:avLst/>
          </a:prstGeom>
        </p:spPr>
      </p:pic>
      <p:pic>
        <p:nvPicPr>
          <p:cNvPr id="12" name="Picture 11" descr="A blue and green rectangle frame&#10;&#10;AI-generated content may be incorrect.">
            <a:extLst>
              <a:ext uri="{FF2B5EF4-FFF2-40B4-BE49-F238E27FC236}">
                <a16:creationId xmlns:a16="http://schemas.microsoft.com/office/drawing/2014/main" id="{B17989A6-7719-CF84-2614-B1CBCE518E17}"/>
              </a:ext>
            </a:extLst>
          </p:cNvPr>
          <p:cNvPicPr>
            <a:picLocks noChangeAspect="1"/>
          </p:cNvPicPr>
          <p:nvPr/>
        </p:nvPicPr>
        <p:blipFill>
          <a:blip r:embed="rId2"/>
          <a:srcRect l="24" t="90776" r="60" b="210"/>
          <a:stretch/>
        </p:blipFill>
        <p:spPr>
          <a:xfrm rot="5400000">
            <a:off x="8589903" y="3219264"/>
            <a:ext cx="7147341" cy="215183"/>
          </a:xfrm>
          <a:prstGeom prst="rect">
            <a:avLst/>
          </a:prstGeom>
        </p:spPr>
      </p:pic>
      <p:pic>
        <p:nvPicPr>
          <p:cNvPr id="13" name="Picture 12" descr="A blue and green rectangle frame&#10;&#10;AI-generated content may be incorrect.">
            <a:extLst>
              <a:ext uri="{FF2B5EF4-FFF2-40B4-BE49-F238E27FC236}">
                <a16:creationId xmlns:a16="http://schemas.microsoft.com/office/drawing/2014/main" id="{6AF7C130-C5F5-6717-D3C0-2C00621A2B08}"/>
              </a:ext>
            </a:extLst>
          </p:cNvPr>
          <p:cNvPicPr>
            <a:picLocks noChangeAspect="1"/>
          </p:cNvPicPr>
          <p:nvPr/>
        </p:nvPicPr>
        <p:blipFill>
          <a:blip r:embed="rId2"/>
          <a:srcRect l="24" t="90776" r="60" b="210"/>
          <a:stretch/>
        </p:blipFill>
        <p:spPr>
          <a:xfrm rot="10800000">
            <a:off x="-207732" y="-188952"/>
            <a:ext cx="12287377" cy="519981"/>
          </a:xfrm>
          <a:prstGeom prst="rect">
            <a:avLst/>
          </a:prstGeom>
        </p:spPr>
      </p:pic>
      <p:pic>
        <p:nvPicPr>
          <p:cNvPr id="9" name="Picture 8" descr="A blue and green rectangle frame&#10;&#10;AI-generated content may be incorrect.">
            <a:extLst>
              <a:ext uri="{FF2B5EF4-FFF2-40B4-BE49-F238E27FC236}">
                <a16:creationId xmlns:a16="http://schemas.microsoft.com/office/drawing/2014/main" id="{E04D6878-3869-67BF-9F13-2FDE7B37DBB5}"/>
              </a:ext>
            </a:extLst>
          </p:cNvPr>
          <p:cNvPicPr>
            <a:picLocks noChangeAspect="1"/>
          </p:cNvPicPr>
          <p:nvPr/>
        </p:nvPicPr>
        <p:blipFill>
          <a:blip r:embed="rId2"/>
          <a:srcRect l="24" t="90776" r="60" b="210"/>
          <a:stretch/>
        </p:blipFill>
        <p:spPr>
          <a:xfrm>
            <a:off x="-83041" y="6378102"/>
            <a:ext cx="12356649" cy="519983"/>
          </a:xfrm>
          <a:prstGeom prst="rect">
            <a:avLst/>
          </a:prstGeom>
        </p:spPr>
      </p:pic>
      <p:sp>
        <p:nvSpPr>
          <p:cNvPr id="24" name="TextBox 23">
            <a:extLst>
              <a:ext uri="{FF2B5EF4-FFF2-40B4-BE49-F238E27FC236}">
                <a16:creationId xmlns:a16="http://schemas.microsoft.com/office/drawing/2014/main" id="{C53C231C-8C20-ACA0-C9E6-DCEA192DF979}"/>
              </a:ext>
            </a:extLst>
          </p:cNvPr>
          <p:cNvSpPr txBox="1"/>
          <p:nvPr/>
        </p:nvSpPr>
        <p:spPr>
          <a:xfrm>
            <a:off x="3315924" y="6376344"/>
            <a:ext cx="5558046" cy="461665"/>
          </a:xfrm>
          <a:prstGeom prst="rect">
            <a:avLst/>
          </a:prstGeom>
          <a:noFill/>
        </p:spPr>
        <p:txBody>
          <a:bodyPr wrap="square" lIns="91440" tIns="45720" rIns="91440" bIns="45720" rtlCol="0" anchor="t">
            <a:spAutoFit/>
          </a:bodyPr>
          <a:lstStyle/>
          <a:p>
            <a:pPr algn="ctr"/>
            <a:r>
              <a:rPr lang="en-CA" sz="2400" b="1" dirty="0">
                <a:solidFill>
                  <a:schemeClr val="bg1"/>
                </a:solidFill>
                <a:latin typeface="Book Antiqua"/>
              </a:rPr>
              <a:t> -  R E C O M </a:t>
            </a:r>
            <a:r>
              <a:rPr lang="en-CA" sz="2400" b="1" dirty="0" err="1">
                <a:solidFill>
                  <a:schemeClr val="bg1"/>
                </a:solidFill>
                <a:latin typeface="Book Antiqua"/>
              </a:rPr>
              <a:t>M</a:t>
            </a:r>
            <a:r>
              <a:rPr lang="en-CA" sz="2400" b="1" dirty="0">
                <a:solidFill>
                  <a:schemeClr val="bg1"/>
                </a:solidFill>
                <a:latin typeface="Book Antiqua"/>
              </a:rPr>
              <a:t> E N D A T I O N  -</a:t>
            </a:r>
          </a:p>
        </p:txBody>
      </p:sp>
      <p:sp>
        <p:nvSpPr>
          <p:cNvPr id="18" name="Rectangle 17">
            <a:extLst>
              <a:ext uri="{FF2B5EF4-FFF2-40B4-BE49-F238E27FC236}">
                <a16:creationId xmlns:a16="http://schemas.microsoft.com/office/drawing/2014/main" id="{7029C2AF-770F-8CE7-B60C-486099C94C50}"/>
              </a:ext>
            </a:extLst>
          </p:cNvPr>
          <p:cNvSpPr/>
          <p:nvPr/>
        </p:nvSpPr>
        <p:spPr>
          <a:xfrm rot="13278271">
            <a:off x="-131127" y="-250176"/>
            <a:ext cx="628990" cy="1018566"/>
          </a:xfrm>
          <a:prstGeom prst="rect">
            <a:avLst/>
          </a:prstGeom>
          <a:solidFill>
            <a:srgbClr val="0E9C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Rectangle 18">
            <a:extLst>
              <a:ext uri="{FF2B5EF4-FFF2-40B4-BE49-F238E27FC236}">
                <a16:creationId xmlns:a16="http://schemas.microsoft.com/office/drawing/2014/main" id="{8EA258E6-F5CD-3D77-3BB8-8DF8E58E679A}"/>
              </a:ext>
            </a:extLst>
          </p:cNvPr>
          <p:cNvSpPr/>
          <p:nvPr/>
        </p:nvSpPr>
        <p:spPr>
          <a:xfrm rot="7941075">
            <a:off x="11656797" y="-235521"/>
            <a:ext cx="628990" cy="1018566"/>
          </a:xfrm>
          <a:prstGeom prst="rect">
            <a:avLst/>
          </a:prstGeom>
          <a:solidFill>
            <a:srgbClr val="0DA1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TextBox 14">
            <a:extLst>
              <a:ext uri="{FF2B5EF4-FFF2-40B4-BE49-F238E27FC236}">
                <a16:creationId xmlns:a16="http://schemas.microsoft.com/office/drawing/2014/main" id="{F992FA70-1446-871F-7C46-AAE203C62DE1}"/>
              </a:ext>
            </a:extLst>
          </p:cNvPr>
          <p:cNvSpPr txBox="1"/>
          <p:nvPr/>
        </p:nvSpPr>
        <p:spPr>
          <a:xfrm>
            <a:off x="1639523" y="-6681"/>
            <a:ext cx="9021682" cy="400110"/>
          </a:xfrm>
          <a:prstGeom prst="rect">
            <a:avLst/>
          </a:prstGeom>
          <a:noFill/>
        </p:spPr>
        <p:txBody>
          <a:bodyPr wrap="square" lIns="91440" tIns="45720" rIns="91440" bIns="45720" rtlCol="0" anchor="t">
            <a:spAutoFit/>
          </a:bodyPr>
          <a:lstStyle/>
          <a:p>
            <a:pPr algn="ctr"/>
            <a:r>
              <a:rPr lang="en-CA" sz="2000" b="1" dirty="0">
                <a:solidFill>
                  <a:schemeClr val="bg1"/>
                </a:solidFill>
                <a:latin typeface="Book Antiqua"/>
              </a:rPr>
              <a:t>- What Must Be Done  -</a:t>
            </a:r>
            <a:endParaRPr lang="en-CA" sz="2000" dirty="0">
              <a:solidFill>
                <a:schemeClr val="bg1"/>
              </a:solidFill>
              <a:latin typeface="Book Antiqua"/>
            </a:endParaRPr>
          </a:p>
        </p:txBody>
      </p:sp>
      <p:sp>
        <p:nvSpPr>
          <p:cNvPr id="2" name="TextBox 1">
            <a:extLst>
              <a:ext uri="{FF2B5EF4-FFF2-40B4-BE49-F238E27FC236}">
                <a16:creationId xmlns:a16="http://schemas.microsoft.com/office/drawing/2014/main" id="{AED7CB0B-DDC2-8D5F-6EB5-97C1E3040E6E}"/>
              </a:ext>
            </a:extLst>
          </p:cNvPr>
          <p:cNvSpPr txBox="1"/>
          <p:nvPr/>
        </p:nvSpPr>
        <p:spPr>
          <a:xfrm>
            <a:off x="454325" y="813759"/>
            <a:ext cx="11297727" cy="50418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CA" b="1" dirty="0">
                <a:latin typeface="Book Antiqua"/>
                <a:cs typeface="Segoe UI"/>
              </a:rPr>
              <a:t>These recommendations </a:t>
            </a:r>
            <a:r>
              <a:rPr lang="en-CA" dirty="0">
                <a:latin typeface="Book Antiqua"/>
                <a:cs typeface="Segoe UI"/>
              </a:rPr>
              <a:t>will enhance public safety in high-crime neighbourhoods and create safer trusting environments:</a:t>
            </a:r>
            <a:r>
              <a:rPr lang="en-US" dirty="0">
                <a:latin typeface="Book Antiqua"/>
                <a:cs typeface="Segoe UI"/>
              </a:rPr>
              <a:t> </a:t>
            </a:r>
            <a:endParaRPr lang="en-US" dirty="0">
              <a:latin typeface="Book Antiqua"/>
            </a:endParaRPr>
          </a:p>
          <a:p>
            <a:pPr marL="285750" indent="-285750">
              <a:lnSpc>
                <a:spcPct val="150000"/>
              </a:lnSpc>
              <a:buFont typeface="Arial,Sans-Serif"/>
              <a:buChar char="•"/>
            </a:pPr>
            <a:r>
              <a:rPr lang="en-US" sz="1600" dirty="0">
                <a:latin typeface="Book Antiqua"/>
                <a:cs typeface="Segoe UI"/>
              </a:rPr>
              <a:t> </a:t>
            </a:r>
            <a:r>
              <a:rPr lang="en-CA" sz="1600" dirty="0">
                <a:latin typeface="Book Antiqua"/>
                <a:cs typeface="Segoe UI"/>
              </a:rPr>
              <a:t>Increase Targeted Community Policing: Focus more resources on areas with persistently high per capita crime rates.</a:t>
            </a:r>
            <a:r>
              <a:rPr lang="en-US" sz="1600" dirty="0">
                <a:latin typeface="Book Antiqua"/>
                <a:cs typeface="Segoe UI"/>
              </a:rPr>
              <a:t>  </a:t>
            </a:r>
          </a:p>
          <a:p>
            <a:pPr marL="285750" indent="-285750">
              <a:lnSpc>
                <a:spcPct val="150000"/>
              </a:lnSpc>
              <a:buFont typeface="Arial,Sans-Serif"/>
              <a:buChar char="•"/>
            </a:pPr>
            <a:r>
              <a:rPr lang="en-CA" sz="1600" dirty="0">
                <a:latin typeface="Book Antiqua"/>
                <a:cs typeface="Segoe UI"/>
              </a:rPr>
              <a:t>Invest in Infrastructure: Improved lighting, public spaces, and community centers is known for deterring crime.</a:t>
            </a:r>
            <a:r>
              <a:rPr lang="en-US" sz="1600" dirty="0">
                <a:latin typeface="Book Antiqua"/>
                <a:cs typeface="Segoe UI"/>
              </a:rPr>
              <a:t>  </a:t>
            </a:r>
          </a:p>
          <a:p>
            <a:pPr marL="285750" indent="-285750">
              <a:lnSpc>
                <a:spcPct val="150000"/>
              </a:lnSpc>
              <a:buFont typeface="Arial,Sans-Serif"/>
              <a:buChar char="•"/>
            </a:pPr>
            <a:r>
              <a:rPr lang="en-CA" sz="1600" dirty="0">
                <a:latin typeface="Book Antiqua"/>
                <a:cs typeface="Segoe UI"/>
              </a:rPr>
              <a:t>Enhance Community Engagement: More regular public reporting and support community-based safety initiatives.</a:t>
            </a:r>
            <a:r>
              <a:rPr lang="en-US" sz="1600" dirty="0">
                <a:latin typeface="Book Antiqua"/>
                <a:cs typeface="Segoe UI"/>
              </a:rPr>
              <a:t>  </a:t>
            </a:r>
          </a:p>
          <a:p>
            <a:pPr marL="285750" indent="-285750">
              <a:lnSpc>
                <a:spcPct val="150000"/>
              </a:lnSpc>
              <a:buFont typeface="Arial,Sans-Serif"/>
              <a:buChar char="•"/>
            </a:pPr>
            <a:r>
              <a:rPr lang="en-CA" sz="1600" dirty="0">
                <a:latin typeface="Book Antiqua"/>
                <a:cs typeface="Segoe UI"/>
              </a:rPr>
              <a:t>Conduct Ongoing Evaluations: Use continuous data monitoring combined with community feedback to adapt and refine interventions over time.</a:t>
            </a:r>
            <a:r>
              <a:rPr lang="en-US" sz="1600" dirty="0">
                <a:latin typeface="Book Antiqua"/>
                <a:cs typeface="Segoe UI"/>
              </a:rPr>
              <a:t> </a:t>
            </a:r>
            <a:endParaRPr lang="en-US" sz="1600" dirty="0">
              <a:latin typeface="Book Antiqua"/>
            </a:endParaRPr>
          </a:p>
          <a:p>
            <a:pPr>
              <a:lnSpc>
                <a:spcPct val="150000"/>
              </a:lnSpc>
            </a:pPr>
            <a:endParaRPr lang="en-CA" b="1" dirty="0">
              <a:latin typeface="Book Antiqua"/>
              <a:cs typeface="Segoe UI"/>
            </a:endParaRPr>
          </a:p>
          <a:p>
            <a:pPr>
              <a:lnSpc>
                <a:spcPct val="150000"/>
              </a:lnSpc>
            </a:pPr>
            <a:r>
              <a:rPr lang="en-CA" b="1" dirty="0">
                <a:latin typeface="Book Antiqua"/>
                <a:cs typeface="Segoe UI"/>
              </a:rPr>
              <a:t>In Conclusion</a:t>
            </a:r>
            <a:r>
              <a:rPr lang="en-US" dirty="0">
                <a:latin typeface="Book Antiqua"/>
                <a:cs typeface="Segoe UI"/>
              </a:rPr>
              <a:t> </a:t>
            </a:r>
            <a:endParaRPr lang="en-US">
              <a:latin typeface="Book Antiqua"/>
            </a:endParaRPr>
          </a:p>
          <a:p>
            <a:pPr>
              <a:lnSpc>
                <a:spcPct val="150000"/>
              </a:lnSpc>
            </a:pPr>
            <a:r>
              <a:rPr lang="en-CA" sz="1600" dirty="0">
                <a:latin typeface="Book Antiqua"/>
                <a:cs typeface="Segoe UI"/>
              </a:rPr>
              <a:t>To conclude, our study indicates that while the City of Toronto has made notable efforts to tackle crime in its most affected neighbourhoods, significant challenges remain. The persistent high crime rates, particularly when viewed on a per capita basis, emphasize the need for more nuanced and targeted interventions. This analysis serves as a call to action for policymakers, law enforcement, and communities alike to work together for enhanced public safety.</a:t>
            </a:r>
            <a:r>
              <a:rPr lang="en-US" sz="1600" dirty="0">
                <a:latin typeface="Book Antiqua"/>
                <a:cs typeface="Segoe UI"/>
              </a:rPr>
              <a:t> </a:t>
            </a:r>
          </a:p>
        </p:txBody>
      </p:sp>
    </p:spTree>
    <p:extLst>
      <p:ext uri="{BB962C8B-B14F-4D97-AF65-F5344CB8AC3E}">
        <p14:creationId xmlns:p14="http://schemas.microsoft.com/office/powerpoint/2010/main" val="42114910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28AB1E2F-9BFF-5223-AFC4-C27621B433EE}"/>
              </a:ext>
            </a:extLst>
          </p:cNvPr>
          <p:cNvPicPr>
            <a:picLocks noChangeAspect="1"/>
          </p:cNvPicPr>
          <p:nvPr/>
        </p:nvPicPr>
        <p:blipFill>
          <a:blip r:embed="rId2">
            <a:extLst>
              <a:ext uri="{837473B0-CC2E-450A-ABE3-18F120FF3D39}">
                <a1611:picAttrSrcUrl xmlns:a1611="http://schemas.microsoft.com/office/drawing/2016/11/main" r:id="rId3"/>
              </a:ext>
            </a:extLst>
          </a:blip>
          <a:srcRect t="20761" b="20761"/>
          <a:stretch/>
        </p:blipFill>
        <p:spPr>
          <a:xfrm>
            <a:off x="-103" y="-3783"/>
            <a:ext cx="12200855" cy="5351198"/>
          </a:xfrm>
          <a:prstGeom prst="rect">
            <a:avLst/>
          </a:prstGeom>
        </p:spPr>
      </p:pic>
      <p:pic>
        <p:nvPicPr>
          <p:cNvPr id="8" name="Picture 7" descr="A blue and green rectangle frame&#10;&#10;AI-generated content may be incorrect.">
            <a:extLst>
              <a:ext uri="{FF2B5EF4-FFF2-40B4-BE49-F238E27FC236}">
                <a16:creationId xmlns:a16="http://schemas.microsoft.com/office/drawing/2014/main" id="{50C53BFF-E1D0-44D8-48B6-D7796CC19BCE}"/>
              </a:ext>
            </a:extLst>
          </p:cNvPr>
          <p:cNvPicPr>
            <a:picLocks noChangeAspect="1"/>
          </p:cNvPicPr>
          <p:nvPr/>
        </p:nvPicPr>
        <p:blipFill>
          <a:blip r:embed="rId4"/>
          <a:srcRect l="24" t="90776" r="60" b="210"/>
          <a:stretch/>
        </p:blipFill>
        <p:spPr>
          <a:xfrm flipV="1">
            <a:off x="84" y="5252311"/>
            <a:ext cx="12190396" cy="158172"/>
          </a:xfrm>
          <a:prstGeom prst="rect">
            <a:avLst/>
          </a:prstGeom>
        </p:spPr>
      </p:pic>
      <p:pic>
        <p:nvPicPr>
          <p:cNvPr id="3" name="Picture 2" descr="A blue and green rectangle frame&#10;&#10;AI-generated content may be incorrect.">
            <a:extLst>
              <a:ext uri="{FF2B5EF4-FFF2-40B4-BE49-F238E27FC236}">
                <a16:creationId xmlns:a16="http://schemas.microsoft.com/office/drawing/2014/main" id="{5B04A38A-2E57-62DF-241D-1D810A8934DC}"/>
              </a:ext>
            </a:extLst>
          </p:cNvPr>
          <p:cNvPicPr>
            <a:picLocks noChangeAspect="1"/>
          </p:cNvPicPr>
          <p:nvPr/>
        </p:nvPicPr>
        <p:blipFill>
          <a:blip r:embed="rId4"/>
          <a:srcRect l="24" t="90776" r="60" b="210"/>
          <a:stretch/>
        </p:blipFill>
        <p:spPr>
          <a:xfrm>
            <a:off x="86" y="6239557"/>
            <a:ext cx="12190395" cy="616964"/>
          </a:xfrm>
          <a:prstGeom prst="rect">
            <a:avLst/>
          </a:prstGeom>
        </p:spPr>
      </p:pic>
      <p:sp>
        <p:nvSpPr>
          <p:cNvPr id="6" name="Rectangle 5">
            <a:extLst>
              <a:ext uri="{FF2B5EF4-FFF2-40B4-BE49-F238E27FC236}">
                <a16:creationId xmlns:a16="http://schemas.microsoft.com/office/drawing/2014/main" id="{2FB617F8-AF21-518F-BF2B-526532542E75}"/>
              </a:ext>
            </a:extLst>
          </p:cNvPr>
          <p:cNvSpPr/>
          <p:nvPr/>
        </p:nvSpPr>
        <p:spPr>
          <a:xfrm>
            <a:off x="2093615" y="4606471"/>
            <a:ext cx="8016286" cy="163324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4000" b="1" dirty="0">
                <a:solidFill>
                  <a:schemeClr val="tx1"/>
                </a:solidFill>
                <a:latin typeface="Book Antiqua"/>
                <a:ea typeface="+mn-lt"/>
                <a:cs typeface="+mn-lt"/>
              </a:rPr>
              <a:t>Thank You For Reading</a:t>
            </a:r>
            <a:endParaRPr lang="en-US" sz="4000" b="1">
              <a:solidFill>
                <a:schemeClr val="tx1"/>
              </a:solidFill>
              <a:latin typeface="Book Antiqua"/>
            </a:endParaRPr>
          </a:p>
          <a:p>
            <a:pPr algn="ctr"/>
            <a:r>
              <a:rPr lang="en-US" sz="1200" dirty="0">
                <a:solidFill>
                  <a:schemeClr val="tx1"/>
                </a:solidFill>
                <a:latin typeface="Book Antiqua"/>
                <a:ea typeface="+mn-lt"/>
                <a:cs typeface="+mn-lt"/>
              </a:rPr>
              <a:t>------------------------------------------------------------------------------------------------------------------------------</a:t>
            </a:r>
          </a:p>
          <a:p>
            <a:pPr algn="ctr"/>
            <a:r>
              <a:rPr lang="en-US" sz="2000" dirty="0">
                <a:solidFill>
                  <a:schemeClr val="tx1"/>
                </a:solidFill>
                <a:latin typeface="Book Antiqua"/>
                <a:ea typeface="+mn-lt"/>
                <a:cs typeface="+mn-lt"/>
              </a:rPr>
              <a:t>This Evidence Based Assessment Using City Of Toronto Open Data</a:t>
            </a:r>
            <a:endParaRPr lang="en-US" dirty="0">
              <a:solidFill>
                <a:schemeClr val="tx1"/>
              </a:solidFill>
            </a:endParaRPr>
          </a:p>
        </p:txBody>
      </p:sp>
      <p:sp>
        <p:nvSpPr>
          <p:cNvPr id="12" name="Rectangle 11">
            <a:extLst>
              <a:ext uri="{FF2B5EF4-FFF2-40B4-BE49-F238E27FC236}">
                <a16:creationId xmlns:a16="http://schemas.microsoft.com/office/drawing/2014/main" id="{1FD27817-7227-B222-6F30-A053DA1F232F}"/>
              </a:ext>
            </a:extLst>
          </p:cNvPr>
          <p:cNvSpPr/>
          <p:nvPr/>
        </p:nvSpPr>
        <p:spPr>
          <a:xfrm>
            <a:off x="188844" y="138704"/>
            <a:ext cx="11811741" cy="6413689"/>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437127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TotalTime>
  <Words>1067</Words>
  <Application>Microsoft Office PowerPoint</Application>
  <PresentationFormat>Widescreen</PresentationFormat>
  <Paragraphs>99</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Aptos</vt:lpstr>
      <vt:lpstr>Aptos Display</vt:lpstr>
      <vt:lpstr>Arial</vt:lpstr>
      <vt:lpstr>Arial,Sans-Serif</vt:lpstr>
      <vt:lpstr>Book Antiqua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Kofo Ogutuga</dc:creator>
  <cp:lastModifiedBy>Kofoworola Ogutuga</cp:lastModifiedBy>
  <cp:revision>109</cp:revision>
  <dcterms:created xsi:type="dcterms:W3CDTF">2013-07-15T20:26:40Z</dcterms:created>
  <dcterms:modified xsi:type="dcterms:W3CDTF">2026-09-26T23:04:39Z</dcterms:modified>
</cp:coreProperties>
</file>